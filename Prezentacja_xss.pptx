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4" r:id="rId5"/>
    <p:sldId id="267" r:id="rId6"/>
    <p:sldId id="268" r:id="rId7"/>
    <p:sldId id="260" r:id="rId8"/>
    <p:sldId id="259" r:id="rId9"/>
    <p:sldId id="262" r:id="rId10"/>
    <p:sldId id="266" r:id="rId11"/>
    <p:sldId id="261" r:id="rId12"/>
    <p:sldId id="263" r:id="rId13"/>
    <p:sldId id="265" r:id="rId14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DC6946-76AB-F692-705D-B142C73D60D3}" v="145" dt="2025-11-30T19:54:21.426"/>
    <p1510:client id="{2A911D71-3E88-90C8-22C5-E011425178C4}" v="262" dt="2025-11-30T20:14:55.3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ED3C59-8542-4B36-84ED-DB6D6CAAC060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3E171F1-D85F-4F28-9A96-15EE7AB3D53E}">
      <dgm:prSet/>
      <dgm:spPr/>
      <dgm:t>
        <a:bodyPr/>
        <a:lstStyle/>
        <a:p>
          <a:r>
            <a:rPr lang="en-US"/>
            <a:t>Co może zrobić atakujący, gdy jego skrypt się uruchomi?</a:t>
          </a:r>
        </a:p>
      </dgm:t>
    </dgm:pt>
    <dgm:pt modelId="{7790E7BE-50CC-4002-8E7D-968D91CD5B28}" type="parTrans" cxnId="{D46CAA3E-85B9-41E0-A1D3-F0F6606FA3C2}">
      <dgm:prSet/>
      <dgm:spPr/>
      <dgm:t>
        <a:bodyPr/>
        <a:lstStyle/>
        <a:p>
          <a:endParaRPr lang="en-US"/>
        </a:p>
      </dgm:t>
    </dgm:pt>
    <dgm:pt modelId="{1C873BEE-91D5-45CF-BD05-94BB517EBE7F}" type="sibTrans" cxnId="{D46CAA3E-85B9-41E0-A1D3-F0F6606FA3C2}">
      <dgm:prSet/>
      <dgm:spPr/>
      <dgm:t>
        <a:bodyPr/>
        <a:lstStyle/>
        <a:p>
          <a:endParaRPr lang="en-US"/>
        </a:p>
      </dgm:t>
    </dgm:pt>
    <dgm:pt modelId="{D981A26E-38D7-493D-A63D-93DC242DEC11}">
      <dgm:prSet/>
      <dgm:spPr/>
      <dgm:t>
        <a:bodyPr/>
        <a:lstStyle/>
        <a:p>
          <a:r>
            <a:rPr lang="en-US" b="1"/>
            <a:t>Kradzież sesji (Session Hijacking):</a:t>
          </a:r>
          <a:r>
            <a:rPr lang="en-US"/>
            <a:t> Przechwycenie ciasteczek document.cookie i przejęcie konta ofiary.</a:t>
          </a:r>
        </a:p>
      </dgm:t>
    </dgm:pt>
    <dgm:pt modelId="{E92B3BE6-A96F-46E5-B9D8-E9E9974D946F}" type="parTrans" cxnId="{06A732E0-D2FF-43D8-8964-D30A8E17C1B2}">
      <dgm:prSet/>
      <dgm:spPr/>
      <dgm:t>
        <a:bodyPr/>
        <a:lstStyle/>
        <a:p>
          <a:endParaRPr lang="en-US"/>
        </a:p>
      </dgm:t>
    </dgm:pt>
    <dgm:pt modelId="{46E3521A-C6CD-4713-BE85-06CD8FED61F6}" type="sibTrans" cxnId="{06A732E0-D2FF-43D8-8964-D30A8E17C1B2}">
      <dgm:prSet/>
      <dgm:spPr/>
      <dgm:t>
        <a:bodyPr/>
        <a:lstStyle/>
        <a:p>
          <a:endParaRPr lang="en-US"/>
        </a:p>
      </dgm:t>
    </dgm:pt>
    <dgm:pt modelId="{7B1B5C6F-2063-474A-8F95-6078D952A910}">
      <dgm:prSet/>
      <dgm:spPr/>
      <dgm:t>
        <a:bodyPr/>
        <a:lstStyle/>
        <a:p>
          <a:r>
            <a:rPr lang="en-US" b="1"/>
            <a:t>Keylogging:</a:t>
          </a:r>
          <a:r>
            <a:rPr lang="en-US"/>
            <a:t> Rejestrowanie klawiszy wpisywanych przez użytkownika.</a:t>
          </a:r>
        </a:p>
      </dgm:t>
    </dgm:pt>
    <dgm:pt modelId="{96F54D61-5392-470F-8433-678CABB9A87C}" type="parTrans" cxnId="{7479A723-80D2-45D1-B9D1-087041B84550}">
      <dgm:prSet/>
      <dgm:spPr/>
      <dgm:t>
        <a:bodyPr/>
        <a:lstStyle/>
        <a:p>
          <a:endParaRPr lang="en-US"/>
        </a:p>
      </dgm:t>
    </dgm:pt>
    <dgm:pt modelId="{23B3D88C-9C6F-4908-8E43-877B2736A5D9}" type="sibTrans" cxnId="{7479A723-80D2-45D1-B9D1-087041B84550}">
      <dgm:prSet/>
      <dgm:spPr/>
      <dgm:t>
        <a:bodyPr/>
        <a:lstStyle/>
        <a:p>
          <a:endParaRPr lang="en-US"/>
        </a:p>
      </dgm:t>
    </dgm:pt>
    <dgm:pt modelId="{0704770C-DB5F-4A25-8019-CD03FCA8CA7E}">
      <dgm:prSet/>
      <dgm:spPr/>
      <dgm:t>
        <a:bodyPr/>
        <a:lstStyle/>
        <a:p>
          <a:r>
            <a:rPr lang="en-US" b="1"/>
            <a:t>Phishing:</a:t>
          </a:r>
          <a:r>
            <a:rPr lang="en-US"/>
            <a:t> Wyświetlenie fałszywego formularza logowania na prawdziwej stronie.</a:t>
          </a:r>
        </a:p>
      </dgm:t>
    </dgm:pt>
    <dgm:pt modelId="{D77EEED6-AE2C-436E-B7AA-85CBC6725BFB}" type="parTrans" cxnId="{F0F0A3CF-ABB3-480A-9A94-6B1EFACBF9D7}">
      <dgm:prSet/>
      <dgm:spPr/>
      <dgm:t>
        <a:bodyPr/>
        <a:lstStyle/>
        <a:p>
          <a:endParaRPr lang="en-US"/>
        </a:p>
      </dgm:t>
    </dgm:pt>
    <dgm:pt modelId="{95577A6E-8C91-4D20-8DBD-FEC247593E64}" type="sibTrans" cxnId="{F0F0A3CF-ABB3-480A-9A94-6B1EFACBF9D7}">
      <dgm:prSet/>
      <dgm:spPr/>
      <dgm:t>
        <a:bodyPr/>
        <a:lstStyle/>
        <a:p>
          <a:endParaRPr lang="en-US"/>
        </a:p>
      </dgm:t>
    </dgm:pt>
    <dgm:pt modelId="{08505138-0A90-4230-98E2-1A07D322AB59}">
      <dgm:prSet/>
      <dgm:spPr/>
      <dgm:t>
        <a:bodyPr/>
        <a:lstStyle/>
        <a:p>
          <a:r>
            <a:rPr lang="en-US" b="1"/>
            <a:t>Przekierowanie:</a:t>
          </a:r>
          <a:r>
            <a:rPr lang="en-US"/>
            <a:t> Przeniesienie użytkownika na złośliwą witrynę.</a:t>
          </a:r>
        </a:p>
      </dgm:t>
    </dgm:pt>
    <dgm:pt modelId="{903431FA-17F7-46C3-B539-2D5B4430FF2A}" type="parTrans" cxnId="{680A833F-925A-4A98-BCD6-D5C97D568A22}">
      <dgm:prSet/>
      <dgm:spPr/>
      <dgm:t>
        <a:bodyPr/>
        <a:lstStyle/>
        <a:p>
          <a:endParaRPr lang="en-US"/>
        </a:p>
      </dgm:t>
    </dgm:pt>
    <dgm:pt modelId="{2ECD6323-BDD4-45B3-A303-8606E87A8D7B}" type="sibTrans" cxnId="{680A833F-925A-4A98-BCD6-D5C97D568A22}">
      <dgm:prSet/>
      <dgm:spPr/>
      <dgm:t>
        <a:bodyPr/>
        <a:lstStyle/>
        <a:p>
          <a:endParaRPr lang="en-US"/>
        </a:p>
      </dgm:t>
    </dgm:pt>
    <dgm:pt modelId="{39714ED9-5335-4931-99E0-933E138A514F}" type="pres">
      <dgm:prSet presAssocID="{42ED3C59-8542-4B36-84ED-DB6D6CAAC060}" presName="outerComposite" presStyleCnt="0">
        <dgm:presLayoutVars>
          <dgm:chMax val="5"/>
          <dgm:dir/>
          <dgm:resizeHandles val="exact"/>
        </dgm:presLayoutVars>
      </dgm:prSet>
      <dgm:spPr/>
    </dgm:pt>
    <dgm:pt modelId="{28E7C3DB-0C9D-41A9-A9FC-4EE88FED11DB}" type="pres">
      <dgm:prSet presAssocID="{42ED3C59-8542-4B36-84ED-DB6D6CAAC060}" presName="dummyMaxCanvas" presStyleCnt="0">
        <dgm:presLayoutVars/>
      </dgm:prSet>
      <dgm:spPr/>
    </dgm:pt>
    <dgm:pt modelId="{E8B71272-7D10-4380-8BEB-161548D9BCAF}" type="pres">
      <dgm:prSet presAssocID="{42ED3C59-8542-4B36-84ED-DB6D6CAAC060}" presName="FiveNodes_1" presStyleLbl="node1" presStyleIdx="0" presStyleCnt="5">
        <dgm:presLayoutVars>
          <dgm:bulletEnabled val="1"/>
        </dgm:presLayoutVars>
      </dgm:prSet>
      <dgm:spPr/>
    </dgm:pt>
    <dgm:pt modelId="{CC80CB2A-A5AA-443F-95D3-DA1D40295AAA}" type="pres">
      <dgm:prSet presAssocID="{42ED3C59-8542-4B36-84ED-DB6D6CAAC060}" presName="FiveNodes_2" presStyleLbl="node1" presStyleIdx="1" presStyleCnt="5">
        <dgm:presLayoutVars>
          <dgm:bulletEnabled val="1"/>
        </dgm:presLayoutVars>
      </dgm:prSet>
      <dgm:spPr/>
    </dgm:pt>
    <dgm:pt modelId="{2E4D7600-B762-465F-9779-B436EAF63BAE}" type="pres">
      <dgm:prSet presAssocID="{42ED3C59-8542-4B36-84ED-DB6D6CAAC060}" presName="FiveNodes_3" presStyleLbl="node1" presStyleIdx="2" presStyleCnt="5">
        <dgm:presLayoutVars>
          <dgm:bulletEnabled val="1"/>
        </dgm:presLayoutVars>
      </dgm:prSet>
      <dgm:spPr/>
    </dgm:pt>
    <dgm:pt modelId="{4EB19889-05D4-4A30-838E-6AC1382515E9}" type="pres">
      <dgm:prSet presAssocID="{42ED3C59-8542-4B36-84ED-DB6D6CAAC060}" presName="FiveNodes_4" presStyleLbl="node1" presStyleIdx="3" presStyleCnt="5">
        <dgm:presLayoutVars>
          <dgm:bulletEnabled val="1"/>
        </dgm:presLayoutVars>
      </dgm:prSet>
      <dgm:spPr/>
    </dgm:pt>
    <dgm:pt modelId="{4CAB884F-70D6-4F62-A97A-41EE397E19C9}" type="pres">
      <dgm:prSet presAssocID="{42ED3C59-8542-4B36-84ED-DB6D6CAAC060}" presName="FiveNodes_5" presStyleLbl="node1" presStyleIdx="4" presStyleCnt="5">
        <dgm:presLayoutVars>
          <dgm:bulletEnabled val="1"/>
        </dgm:presLayoutVars>
      </dgm:prSet>
      <dgm:spPr/>
    </dgm:pt>
    <dgm:pt modelId="{19B59F56-6F1F-48D5-BEDA-E3D765D98EB2}" type="pres">
      <dgm:prSet presAssocID="{42ED3C59-8542-4B36-84ED-DB6D6CAAC060}" presName="FiveConn_1-2" presStyleLbl="fgAccFollowNode1" presStyleIdx="0" presStyleCnt="4">
        <dgm:presLayoutVars>
          <dgm:bulletEnabled val="1"/>
        </dgm:presLayoutVars>
      </dgm:prSet>
      <dgm:spPr/>
    </dgm:pt>
    <dgm:pt modelId="{000CA84F-BD73-41A5-B9CC-28F468E2E576}" type="pres">
      <dgm:prSet presAssocID="{42ED3C59-8542-4B36-84ED-DB6D6CAAC060}" presName="FiveConn_2-3" presStyleLbl="fgAccFollowNode1" presStyleIdx="1" presStyleCnt="4">
        <dgm:presLayoutVars>
          <dgm:bulletEnabled val="1"/>
        </dgm:presLayoutVars>
      </dgm:prSet>
      <dgm:spPr/>
    </dgm:pt>
    <dgm:pt modelId="{289F746D-3F29-4D00-9679-A8D373784FB2}" type="pres">
      <dgm:prSet presAssocID="{42ED3C59-8542-4B36-84ED-DB6D6CAAC060}" presName="FiveConn_3-4" presStyleLbl="fgAccFollowNode1" presStyleIdx="2" presStyleCnt="4">
        <dgm:presLayoutVars>
          <dgm:bulletEnabled val="1"/>
        </dgm:presLayoutVars>
      </dgm:prSet>
      <dgm:spPr/>
    </dgm:pt>
    <dgm:pt modelId="{68B37294-1E92-477A-AE28-D5292A88FDDE}" type="pres">
      <dgm:prSet presAssocID="{42ED3C59-8542-4B36-84ED-DB6D6CAAC060}" presName="FiveConn_4-5" presStyleLbl="fgAccFollowNode1" presStyleIdx="3" presStyleCnt="4">
        <dgm:presLayoutVars>
          <dgm:bulletEnabled val="1"/>
        </dgm:presLayoutVars>
      </dgm:prSet>
      <dgm:spPr/>
    </dgm:pt>
    <dgm:pt modelId="{FFA98F5A-10D0-4361-BD63-C06182C4596F}" type="pres">
      <dgm:prSet presAssocID="{42ED3C59-8542-4B36-84ED-DB6D6CAAC060}" presName="FiveNodes_1_text" presStyleLbl="node1" presStyleIdx="4" presStyleCnt="5">
        <dgm:presLayoutVars>
          <dgm:bulletEnabled val="1"/>
        </dgm:presLayoutVars>
      </dgm:prSet>
      <dgm:spPr/>
    </dgm:pt>
    <dgm:pt modelId="{ABE41CD0-7E40-4BB3-87DC-BFF6F381541E}" type="pres">
      <dgm:prSet presAssocID="{42ED3C59-8542-4B36-84ED-DB6D6CAAC060}" presName="FiveNodes_2_text" presStyleLbl="node1" presStyleIdx="4" presStyleCnt="5">
        <dgm:presLayoutVars>
          <dgm:bulletEnabled val="1"/>
        </dgm:presLayoutVars>
      </dgm:prSet>
      <dgm:spPr/>
    </dgm:pt>
    <dgm:pt modelId="{EF2FAB2B-79FA-4E38-8C17-40EAE59876D9}" type="pres">
      <dgm:prSet presAssocID="{42ED3C59-8542-4B36-84ED-DB6D6CAAC060}" presName="FiveNodes_3_text" presStyleLbl="node1" presStyleIdx="4" presStyleCnt="5">
        <dgm:presLayoutVars>
          <dgm:bulletEnabled val="1"/>
        </dgm:presLayoutVars>
      </dgm:prSet>
      <dgm:spPr/>
    </dgm:pt>
    <dgm:pt modelId="{08AAC541-359E-4B0C-95AA-83BEE9C5345E}" type="pres">
      <dgm:prSet presAssocID="{42ED3C59-8542-4B36-84ED-DB6D6CAAC060}" presName="FiveNodes_4_text" presStyleLbl="node1" presStyleIdx="4" presStyleCnt="5">
        <dgm:presLayoutVars>
          <dgm:bulletEnabled val="1"/>
        </dgm:presLayoutVars>
      </dgm:prSet>
      <dgm:spPr/>
    </dgm:pt>
    <dgm:pt modelId="{837ED50F-FB62-430D-8DD6-A042E6861E47}" type="pres">
      <dgm:prSet presAssocID="{42ED3C59-8542-4B36-84ED-DB6D6CAAC060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A74BE600-8536-4474-BEDD-9B58F73E7BF9}" type="presOf" srcId="{7B1B5C6F-2063-474A-8F95-6078D952A910}" destId="{2E4D7600-B762-465F-9779-B436EAF63BAE}" srcOrd="0" destOrd="0" presId="urn:microsoft.com/office/officeart/2005/8/layout/vProcess5"/>
    <dgm:cxn modelId="{EA91DD16-FF5A-495D-9C83-D4DF6A779AF2}" type="presOf" srcId="{0704770C-DB5F-4A25-8019-CD03FCA8CA7E}" destId="{4EB19889-05D4-4A30-838E-6AC1382515E9}" srcOrd="0" destOrd="0" presId="urn:microsoft.com/office/officeart/2005/8/layout/vProcess5"/>
    <dgm:cxn modelId="{12081F1C-32C6-4FE4-8C94-31ED548AD3AB}" type="presOf" srcId="{D981A26E-38D7-493D-A63D-93DC242DEC11}" destId="{CC80CB2A-A5AA-443F-95D3-DA1D40295AAA}" srcOrd="0" destOrd="0" presId="urn:microsoft.com/office/officeart/2005/8/layout/vProcess5"/>
    <dgm:cxn modelId="{A33D5720-705B-42BF-87E2-B12CE3A02243}" type="presOf" srcId="{1C873BEE-91D5-45CF-BD05-94BB517EBE7F}" destId="{19B59F56-6F1F-48D5-BEDA-E3D765D98EB2}" srcOrd="0" destOrd="0" presId="urn:microsoft.com/office/officeart/2005/8/layout/vProcess5"/>
    <dgm:cxn modelId="{7479A723-80D2-45D1-B9D1-087041B84550}" srcId="{42ED3C59-8542-4B36-84ED-DB6D6CAAC060}" destId="{7B1B5C6F-2063-474A-8F95-6078D952A910}" srcOrd="2" destOrd="0" parTransId="{96F54D61-5392-470F-8433-678CABB9A87C}" sibTransId="{23B3D88C-9C6F-4908-8E43-877B2736A5D9}"/>
    <dgm:cxn modelId="{B205592E-4857-4817-B85D-31E98F05C69B}" type="presOf" srcId="{08505138-0A90-4230-98E2-1A07D322AB59}" destId="{837ED50F-FB62-430D-8DD6-A042E6861E47}" srcOrd="1" destOrd="0" presId="urn:microsoft.com/office/officeart/2005/8/layout/vProcess5"/>
    <dgm:cxn modelId="{E75B8934-87ED-4660-81D3-B5D68F62E8CD}" type="presOf" srcId="{53E171F1-D85F-4F28-9A96-15EE7AB3D53E}" destId="{E8B71272-7D10-4380-8BEB-161548D9BCAF}" srcOrd="0" destOrd="0" presId="urn:microsoft.com/office/officeart/2005/8/layout/vProcess5"/>
    <dgm:cxn modelId="{D46CAA3E-85B9-41E0-A1D3-F0F6606FA3C2}" srcId="{42ED3C59-8542-4B36-84ED-DB6D6CAAC060}" destId="{53E171F1-D85F-4F28-9A96-15EE7AB3D53E}" srcOrd="0" destOrd="0" parTransId="{7790E7BE-50CC-4002-8E7D-968D91CD5B28}" sibTransId="{1C873BEE-91D5-45CF-BD05-94BB517EBE7F}"/>
    <dgm:cxn modelId="{680A833F-925A-4A98-BCD6-D5C97D568A22}" srcId="{42ED3C59-8542-4B36-84ED-DB6D6CAAC060}" destId="{08505138-0A90-4230-98E2-1A07D322AB59}" srcOrd="4" destOrd="0" parTransId="{903431FA-17F7-46C3-B539-2D5B4430FF2A}" sibTransId="{2ECD6323-BDD4-45B3-A303-8606E87A8D7B}"/>
    <dgm:cxn modelId="{3F9EE660-3350-4AC6-A194-61D8273057DC}" type="presOf" srcId="{42ED3C59-8542-4B36-84ED-DB6D6CAAC060}" destId="{39714ED9-5335-4931-99E0-933E138A514F}" srcOrd="0" destOrd="0" presId="urn:microsoft.com/office/officeart/2005/8/layout/vProcess5"/>
    <dgm:cxn modelId="{54611066-C582-462C-AC2E-936D40EDB8FD}" type="presOf" srcId="{08505138-0A90-4230-98E2-1A07D322AB59}" destId="{4CAB884F-70D6-4F62-A97A-41EE397E19C9}" srcOrd="0" destOrd="0" presId="urn:microsoft.com/office/officeart/2005/8/layout/vProcess5"/>
    <dgm:cxn modelId="{64AA8448-8701-454F-B89D-E5149060069B}" type="presOf" srcId="{23B3D88C-9C6F-4908-8E43-877B2736A5D9}" destId="{289F746D-3F29-4D00-9679-A8D373784FB2}" srcOrd="0" destOrd="0" presId="urn:microsoft.com/office/officeart/2005/8/layout/vProcess5"/>
    <dgm:cxn modelId="{4B50F44E-5C47-48FB-B4B3-2D8C145CA5EF}" type="presOf" srcId="{0704770C-DB5F-4A25-8019-CD03FCA8CA7E}" destId="{08AAC541-359E-4B0C-95AA-83BEE9C5345E}" srcOrd="1" destOrd="0" presId="urn:microsoft.com/office/officeart/2005/8/layout/vProcess5"/>
    <dgm:cxn modelId="{2629FB9F-7577-41EA-B2C3-014835CB02D5}" type="presOf" srcId="{7B1B5C6F-2063-474A-8F95-6078D952A910}" destId="{EF2FAB2B-79FA-4E38-8C17-40EAE59876D9}" srcOrd="1" destOrd="0" presId="urn:microsoft.com/office/officeart/2005/8/layout/vProcess5"/>
    <dgm:cxn modelId="{BBC090BB-2757-49BD-8177-3FDD421B2DA5}" type="presOf" srcId="{53E171F1-D85F-4F28-9A96-15EE7AB3D53E}" destId="{FFA98F5A-10D0-4361-BD63-C06182C4596F}" srcOrd="1" destOrd="0" presId="urn:microsoft.com/office/officeart/2005/8/layout/vProcess5"/>
    <dgm:cxn modelId="{E586E1BC-5872-4CF6-9386-BFE38881DC4E}" type="presOf" srcId="{D981A26E-38D7-493D-A63D-93DC242DEC11}" destId="{ABE41CD0-7E40-4BB3-87DC-BFF6F381541E}" srcOrd="1" destOrd="0" presId="urn:microsoft.com/office/officeart/2005/8/layout/vProcess5"/>
    <dgm:cxn modelId="{F0F0A3CF-ABB3-480A-9A94-6B1EFACBF9D7}" srcId="{42ED3C59-8542-4B36-84ED-DB6D6CAAC060}" destId="{0704770C-DB5F-4A25-8019-CD03FCA8CA7E}" srcOrd="3" destOrd="0" parTransId="{D77EEED6-AE2C-436E-B7AA-85CBC6725BFB}" sibTransId="{95577A6E-8C91-4D20-8DBD-FEC247593E64}"/>
    <dgm:cxn modelId="{27AADBCF-CFD3-4D18-A5D5-1BDC20235F57}" type="presOf" srcId="{95577A6E-8C91-4D20-8DBD-FEC247593E64}" destId="{68B37294-1E92-477A-AE28-D5292A88FDDE}" srcOrd="0" destOrd="0" presId="urn:microsoft.com/office/officeart/2005/8/layout/vProcess5"/>
    <dgm:cxn modelId="{A7BB23D4-2D95-4B6D-9FD4-4E4A1A50B16A}" type="presOf" srcId="{46E3521A-C6CD-4713-BE85-06CD8FED61F6}" destId="{000CA84F-BD73-41A5-B9CC-28F468E2E576}" srcOrd="0" destOrd="0" presId="urn:microsoft.com/office/officeart/2005/8/layout/vProcess5"/>
    <dgm:cxn modelId="{06A732E0-D2FF-43D8-8964-D30A8E17C1B2}" srcId="{42ED3C59-8542-4B36-84ED-DB6D6CAAC060}" destId="{D981A26E-38D7-493D-A63D-93DC242DEC11}" srcOrd="1" destOrd="0" parTransId="{E92B3BE6-A96F-46E5-B9D8-E9E9974D946F}" sibTransId="{46E3521A-C6CD-4713-BE85-06CD8FED61F6}"/>
    <dgm:cxn modelId="{15942403-FE9E-4782-858A-5B7B119CE679}" type="presParOf" srcId="{39714ED9-5335-4931-99E0-933E138A514F}" destId="{28E7C3DB-0C9D-41A9-A9FC-4EE88FED11DB}" srcOrd="0" destOrd="0" presId="urn:microsoft.com/office/officeart/2005/8/layout/vProcess5"/>
    <dgm:cxn modelId="{0730C647-5DD0-47F5-BD60-DC94F8FB3AD3}" type="presParOf" srcId="{39714ED9-5335-4931-99E0-933E138A514F}" destId="{E8B71272-7D10-4380-8BEB-161548D9BCAF}" srcOrd="1" destOrd="0" presId="urn:microsoft.com/office/officeart/2005/8/layout/vProcess5"/>
    <dgm:cxn modelId="{912E979E-8ED2-4A24-8B15-A4F9E1E2B338}" type="presParOf" srcId="{39714ED9-5335-4931-99E0-933E138A514F}" destId="{CC80CB2A-A5AA-443F-95D3-DA1D40295AAA}" srcOrd="2" destOrd="0" presId="urn:microsoft.com/office/officeart/2005/8/layout/vProcess5"/>
    <dgm:cxn modelId="{EAA8B3F9-A256-4089-BFDF-668CF6731CF0}" type="presParOf" srcId="{39714ED9-5335-4931-99E0-933E138A514F}" destId="{2E4D7600-B762-465F-9779-B436EAF63BAE}" srcOrd="3" destOrd="0" presId="urn:microsoft.com/office/officeart/2005/8/layout/vProcess5"/>
    <dgm:cxn modelId="{D9418923-9EEE-4920-9EC4-5787F29C3174}" type="presParOf" srcId="{39714ED9-5335-4931-99E0-933E138A514F}" destId="{4EB19889-05D4-4A30-838E-6AC1382515E9}" srcOrd="4" destOrd="0" presId="urn:microsoft.com/office/officeart/2005/8/layout/vProcess5"/>
    <dgm:cxn modelId="{F5CFB28C-C850-40CE-8B9E-72B757899EAB}" type="presParOf" srcId="{39714ED9-5335-4931-99E0-933E138A514F}" destId="{4CAB884F-70D6-4F62-A97A-41EE397E19C9}" srcOrd="5" destOrd="0" presId="urn:microsoft.com/office/officeart/2005/8/layout/vProcess5"/>
    <dgm:cxn modelId="{3F2C000E-057C-4522-9D70-51EA3EBFD15D}" type="presParOf" srcId="{39714ED9-5335-4931-99E0-933E138A514F}" destId="{19B59F56-6F1F-48D5-BEDA-E3D765D98EB2}" srcOrd="6" destOrd="0" presId="urn:microsoft.com/office/officeart/2005/8/layout/vProcess5"/>
    <dgm:cxn modelId="{9F6FCCC1-513C-408A-A685-3C243AFF2AA5}" type="presParOf" srcId="{39714ED9-5335-4931-99E0-933E138A514F}" destId="{000CA84F-BD73-41A5-B9CC-28F468E2E576}" srcOrd="7" destOrd="0" presId="urn:microsoft.com/office/officeart/2005/8/layout/vProcess5"/>
    <dgm:cxn modelId="{EAA22F73-8DEF-4597-B45F-23ACE09DB940}" type="presParOf" srcId="{39714ED9-5335-4931-99E0-933E138A514F}" destId="{289F746D-3F29-4D00-9679-A8D373784FB2}" srcOrd="8" destOrd="0" presId="urn:microsoft.com/office/officeart/2005/8/layout/vProcess5"/>
    <dgm:cxn modelId="{45726886-1278-4A4A-8444-026B4740CC1A}" type="presParOf" srcId="{39714ED9-5335-4931-99E0-933E138A514F}" destId="{68B37294-1E92-477A-AE28-D5292A88FDDE}" srcOrd="9" destOrd="0" presId="urn:microsoft.com/office/officeart/2005/8/layout/vProcess5"/>
    <dgm:cxn modelId="{FFC8D213-29C7-488A-9A14-91B60049458E}" type="presParOf" srcId="{39714ED9-5335-4931-99E0-933E138A514F}" destId="{FFA98F5A-10D0-4361-BD63-C06182C4596F}" srcOrd="10" destOrd="0" presId="urn:microsoft.com/office/officeart/2005/8/layout/vProcess5"/>
    <dgm:cxn modelId="{B16AD9D7-F1D5-4316-ACDD-916490B69639}" type="presParOf" srcId="{39714ED9-5335-4931-99E0-933E138A514F}" destId="{ABE41CD0-7E40-4BB3-87DC-BFF6F381541E}" srcOrd="11" destOrd="0" presId="urn:microsoft.com/office/officeart/2005/8/layout/vProcess5"/>
    <dgm:cxn modelId="{F242E972-13CD-4BFF-99BE-2E6A78A0E11C}" type="presParOf" srcId="{39714ED9-5335-4931-99E0-933E138A514F}" destId="{EF2FAB2B-79FA-4E38-8C17-40EAE59876D9}" srcOrd="12" destOrd="0" presId="urn:microsoft.com/office/officeart/2005/8/layout/vProcess5"/>
    <dgm:cxn modelId="{7A632235-D84B-4B49-AA59-675CB9E98347}" type="presParOf" srcId="{39714ED9-5335-4931-99E0-933E138A514F}" destId="{08AAC541-359E-4B0C-95AA-83BEE9C5345E}" srcOrd="13" destOrd="0" presId="urn:microsoft.com/office/officeart/2005/8/layout/vProcess5"/>
    <dgm:cxn modelId="{3CB54F9D-360E-4C68-BF12-F50240FE6E49}" type="presParOf" srcId="{39714ED9-5335-4931-99E0-933E138A514F}" destId="{837ED50F-FB62-430D-8DD6-A042E6861E47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E6C7EBF-ABE4-4633-9BCA-E6E1F8DC6F8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5C838A79-D276-4F1C-AF3E-ACEB47BDA3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Sanityzacja danych wejściowych:</a:t>
          </a:r>
          <a:r>
            <a:rPr lang="en-US"/>
            <a:t> Usuwanie niebezpiecznych znaków z danych od użytkownika.</a:t>
          </a:r>
        </a:p>
      </dgm:t>
    </dgm:pt>
    <dgm:pt modelId="{5455D055-1293-49E7-9945-40EC13B2B17C}" type="parTrans" cxnId="{10D20B12-7A40-43D2-A64A-1A1ADF810F57}">
      <dgm:prSet/>
      <dgm:spPr/>
      <dgm:t>
        <a:bodyPr/>
        <a:lstStyle/>
        <a:p>
          <a:endParaRPr lang="en-US"/>
        </a:p>
      </dgm:t>
    </dgm:pt>
    <dgm:pt modelId="{869A5ABC-F0E9-4FB5-A3DF-560BA2F90436}" type="sibTrans" cxnId="{10D20B12-7A40-43D2-A64A-1A1ADF810F57}">
      <dgm:prSet/>
      <dgm:spPr/>
      <dgm:t>
        <a:bodyPr/>
        <a:lstStyle/>
        <a:p>
          <a:endParaRPr lang="en-US"/>
        </a:p>
      </dgm:t>
    </dgm:pt>
    <dgm:pt modelId="{930C425A-3E32-480C-A253-83F74B2DED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Kodowanie danych wyjściowych (Output Encoding):</a:t>
          </a:r>
          <a:r>
            <a:rPr lang="en-US"/>
            <a:t> Zamiana znaków specjalnych na encje HTML (np. &lt; na &amp;lt;), aby przeglądarka wyświetliła je jako tekst, a nie kod.</a:t>
          </a:r>
        </a:p>
      </dgm:t>
    </dgm:pt>
    <dgm:pt modelId="{A94786FE-5128-48E9-A0EA-54BF84AE6B3E}" type="parTrans" cxnId="{85B44B78-1C61-4C78-B2E3-3906182DCA85}">
      <dgm:prSet/>
      <dgm:spPr/>
      <dgm:t>
        <a:bodyPr/>
        <a:lstStyle/>
        <a:p>
          <a:endParaRPr lang="en-US"/>
        </a:p>
      </dgm:t>
    </dgm:pt>
    <dgm:pt modelId="{3B2CC626-BD84-438E-BB26-754EB388DCE0}" type="sibTrans" cxnId="{85B44B78-1C61-4C78-B2E3-3906182DCA85}">
      <dgm:prSet/>
      <dgm:spPr/>
      <dgm:t>
        <a:bodyPr/>
        <a:lstStyle/>
        <a:p>
          <a:endParaRPr lang="en-US"/>
        </a:p>
      </dgm:t>
    </dgm:pt>
    <dgm:pt modelId="{EF8A1DA2-DAF4-4001-B9AE-DCA494E67F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Content Security Policy (CSP):</a:t>
          </a:r>
          <a:r>
            <a:rPr lang="en-US"/>
            <a:t> Nagłówek HTTP, który mówi przeglądarce, z jakich źródeł może ładować skrypty.</a:t>
          </a:r>
        </a:p>
      </dgm:t>
    </dgm:pt>
    <dgm:pt modelId="{4A8EE6BA-B40A-4910-9AD0-771D4BBD09FD}" type="parTrans" cxnId="{088FF39A-EF83-4444-BBF9-09B17D6D5766}">
      <dgm:prSet/>
      <dgm:spPr/>
      <dgm:t>
        <a:bodyPr/>
        <a:lstStyle/>
        <a:p>
          <a:endParaRPr lang="en-US"/>
        </a:p>
      </dgm:t>
    </dgm:pt>
    <dgm:pt modelId="{B6295A3B-3478-43FE-B4EF-2812C6200534}" type="sibTrans" cxnId="{088FF39A-EF83-4444-BBF9-09B17D6D5766}">
      <dgm:prSet/>
      <dgm:spPr/>
      <dgm:t>
        <a:bodyPr/>
        <a:lstStyle/>
        <a:p>
          <a:endParaRPr lang="en-US"/>
        </a:p>
      </dgm:t>
    </dgm:pt>
    <dgm:pt modelId="{DBD7BCCD-F07C-4E4E-B5E8-9DF2E19E008B}" type="pres">
      <dgm:prSet presAssocID="{CE6C7EBF-ABE4-4633-9BCA-E6E1F8DC6F84}" presName="root" presStyleCnt="0">
        <dgm:presLayoutVars>
          <dgm:dir/>
          <dgm:resizeHandles val="exact"/>
        </dgm:presLayoutVars>
      </dgm:prSet>
      <dgm:spPr/>
    </dgm:pt>
    <dgm:pt modelId="{04A5B903-4283-41FE-9F33-B2739469E640}" type="pres">
      <dgm:prSet presAssocID="{5C838A79-D276-4F1C-AF3E-ACEB47BDA3F6}" presName="compNode" presStyleCnt="0"/>
      <dgm:spPr/>
    </dgm:pt>
    <dgm:pt modelId="{DC21EF6F-47BE-4A4F-AA4D-757FD60F3457}" type="pres">
      <dgm:prSet presAssocID="{5C838A79-D276-4F1C-AF3E-ACEB47BDA3F6}" presName="bgRect" presStyleLbl="bgShp" presStyleIdx="0" presStyleCnt="3"/>
      <dgm:spPr/>
    </dgm:pt>
    <dgm:pt modelId="{92DC871A-A10B-4862-9FEF-73FC2C4E8245}" type="pres">
      <dgm:prSet presAssocID="{5C838A79-D276-4F1C-AF3E-ACEB47BDA3F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05F31646-5C90-49C4-A1FC-11D90DE72312}" type="pres">
      <dgm:prSet presAssocID="{5C838A79-D276-4F1C-AF3E-ACEB47BDA3F6}" presName="spaceRect" presStyleCnt="0"/>
      <dgm:spPr/>
    </dgm:pt>
    <dgm:pt modelId="{751106B0-7269-415F-9BC7-EFC4BDDEAFFB}" type="pres">
      <dgm:prSet presAssocID="{5C838A79-D276-4F1C-AF3E-ACEB47BDA3F6}" presName="parTx" presStyleLbl="revTx" presStyleIdx="0" presStyleCnt="3">
        <dgm:presLayoutVars>
          <dgm:chMax val="0"/>
          <dgm:chPref val="0"/>
        </dgm:presLayoutVars>
      </dgm:prSet>
      <dgm:spPr/>
    </dgm:pt>
    <dgm:pt modelId="{2D70AF7D-F13F-4E51-A3B9-5B7FE8693979}" type="pres">
      <dgm:prSet presAssocID="{869A5ABC-F0E9-4FB5-A3DF-560BA2F90436}" presName="sibTrans" presStyleCnt="0"/>
      <dgm:spPr/>
    </dgm:pt>
    <dgm:pt modelId="{31CDA7B8-2E63-47BA-BB0F-C4BC19BD8B34}" type="pres">
      <dgm:prSet presAssocID="{930C425A-3E32-480C-A253-83F74B2DED72}" presName="compNode" presStyleCnt="0"/>
      <dgm:spPr/>
    </dgm:pt>
    <dgm:pt modelId="{29AF20F8-D53B-4D2A-BFF0-7AE7148C61EA}" type="pres">
      <dgm:prSet presAssocID="{930C425A-3E32-480C-A253-83F74B2DED72}" presName="bgRect" presStyleLbl="bgShp" presStyleIdx="1" presStyleCnt="3"/>
      <dgm:spPr/>
    </dgm:pt>
    <dgm:pt modelId="{510C0662-B679-44D7-9C40-606017FF5083}" type="pres">
      <dgm:prSet presAssocID="{930C425A-3E32-480C-A253-83F74B2DED7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CDB03D9-BFAA-4A0E-9EA6-0B42E08DD07F}" type="pres">
      <dgm:prSet presAssocID="{930C425A-3E32-480C-A253-83F74B2DED72}" presName="spaceRect" presStyleCnt="0"/>
      <dgm:spPr/>
    </dgm:pt>
    <dgm:pt modelId="{594DA72E-FA4F-4AE4-A3CD-543A9A292C0B}" type="pres">
      <dgm:prSet presAssocID="{930C425A-3E32-480C-A253-83F74B2DED72}" presName="parTx" presStyleLbl="revTx" presStyleIdx="1" presStyleCnt="3">
        <dgm:presLayoutVars>
          <dgm:chMax val="0"/>
          <dgm:chPref val="0"/>
        </dgm:presLayoutVars>
      </dgm:prSet>
      <dgm:spPr/>
    </dgm:pt>
    <dgm:pt modelId="{497A94A8-3E00-4E3E-934F-D16DDCB41BDA}" type="pres">
      <dgm:prSet presAssocID="{3B2CC626-BD84-438E-BB26-754EB388DCE0}" presName="sibTrans" presStyleCnt="0"/>
      <dgm:spPr/>
    </dgm:pt>
    <dgm:pt modelId="{F601278C-389D-436B-86BE-1B43F7AC5FED}" type="pres">
      <dgm:prSet presAssocID="{EF8A1DA2-DAF4-4001-B9AE-DCA494E67F8D}" presName="compNode" presStyleCnt="0"/>
      <dgm:spPr/>
    </dgm:pt>
    <dgm:pt modelId="{4D304A89-4D1D-47F2-B67F-90E290D8734C}" type="pres">
      <dgm:prSet presAssocID="{EF8A1DA2-DAF4-4001-B9AE-DCA494E67F8D}" presName="bgRect" presStyleLbl="bgShp" presStyleIdx="2" presStyleCnt="3"/>
      <dgm:spPr/>
    </dgm:pt>
    <dgm:pt modelId="{7D28A2B1-3687-4602-B79D-5291574993A1}" type="pres">
      <dgm:prSet presAssocID="{EF8A1DA2-DAF4-4001-B9AE-DCA494E67F8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FA6FFD1C-8CE2-49AF-A01B-1FB8A2BFDD55}" type="pres">
      <dgm:prSet presAssocID="{EF8A1DA2-DAF4-4001-B9AE-DCA494E67F8D}" presName="spaceRect" presStyleCnt="0"/>
      <dgm:spPr/>
    </dgm:pt>
    <dgm:pt modelId="{B6AEA26E-7B3A-47A2-A46E-10CCF47910A2}" type="pres">
      <dgm:prSet presAssocID="{EF8A1DA2-DAF4-4001-B9AE-DCA494E67F8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42F150F-98D0-4D86-9FEF-48EB41DA16B9}" type="presOf" srcId="{5C838A79-D276-4F1C-AF3E-ACEB47BDA3F6}" destId="{751106B0-7269-415F-9BC7-EFC4BDDEAFFB}" srcOrd="0" destOrd="0" presId="urn:microsoft.com/office/officeart/2018/2/layout/IconVerticalSolidList"/>
    <dgm:cxn modelId="{10D20B12-7A40-43D2-A64A-1A1ADF810F57}" srcId="{CE6C7EBF-ABE4-4633-9BCA-E6E1F8DC6F84}" destId="{5C838A79-D276-4F1C-AF3E-ACEB47BDA3F6}" srcOrd="0" destOrd="0" parTransId="{5455D055-1293-49E7-9945-40EC13B2B17C}" sibTransId="{869A5ABC-F0E9-4FB5-A3DF-560BA2F90436}"/>
    <dgm:cxn modelId="{0E18C91B-564F-43C2-8E35-99129CE3415F}" type="presOf" srcId="{930C425A-3E32-480C-A253-83F74B2DED72}" destId="{594DA72E-FA4F-4AE4-A3CD-543A9A292C0B}" srcOrd="0" destOrd="0" presId="urn:microsoft.com/office/officeart/2018/2/layout/IconVerticalSolidList"/>
    <dgm:cxn modelId="{85B44B78-1C61-4C78-B2E3-3906182DCA85}" srcId="{CE6C7EBF-ABE4-4633-9BCA-E6E1F8DC6F84}" destId="{930C425A-3E32-480C-A253-83F74B2DED72}" srcOrd="1" destOrd="0" parTransId="{A94786FE-5128-48E9-A0EA-54BF84AE6B3E}" sibTransId="{3B2CC626-BD84-438E-BB26-754EB388DCE0}"/>
    <dgm:cxn modelId="{088FF39A-EF83-4444-BBF9-09B17D6D5766}" srcId="{CE6C7EBF-ABE4-4633-9BCA-E6E1F8DC6F84}" destId="{EF8A1DA2-DAF4-4001-B9AE-DCA494E67F8D}" srcOrd="2" destOrd="0" parTransId="{4A8EE6BA-B40A-4910-9AD0-771D4BBD09FD}" sibTransId="{B6295A3B-3478-43FE-B4EF-2812C6200534}"/>
    <dgm:cxn modelId="{29ECF6C0-901C-40A6-B6F5-218A7A8FA84E}" type="presOf" srcId="{EF8A1DA2-DAF4-4001-B9AE-DCA494E67F8D}" destId="{B6AEA26E-7B3A-47A2-A46E-10CCF47910A2}" srcOrd="0" destOrd="0" presId="urn:microsoft.com/office/officeart/2018/2/layout/IconVerticalSolidList"/>
    <dgm:cxn modelId="{5CE5DAF4-32B6-485D-82B4-28FB92EABFDC}" type="presOf" srcId="{CE6C7EBF-ABE4-4633-9BCA-E6E1F8DC6F84}" destId="{DBD7BCCD-F07C-4E4E-B5E8-9DF2E19E008B}" srcOrd="0" destOrd="0" presId="urn:microsoft.com/office/officeart/2018/2/layout/IconVerticalSolidList"/>
    <dgm:cxn modelId="{DDF4A30D-F93F-4A12-B6C3-2157CFDE3302}" type="presParOf" srcId="{DBD7BCCD-F07C-4E4E-B5E8-9DF2E19E008B}" destId="{04A5B903-4283-41FE-9F33-B2739469E640}" srcOrd="0" destOrd="0" presId="urn:microsoft.com/office/officeart/2018/2/layout/IconVerticalSolidList"/>
    <dgm:cxn modelId="{80136898-2706-48B4-B944-34847D309A27}" type="presParOf" srcId="{04A5B903-4283-41FE-9F33-B2739469E640}" destId="{DC21EF6F-47BE-4A4F-AA4D-757FD60F3457}" srcOrd="0" destOrd="0" presId="urn:microsoft.com/office/officeart/2018/2/layout/IconVerticalSolidList"/>
    <dgm:cxn modelId="{6708663E-E980-4A77-BA06-3F6B48F5B3B5}" type="presParOf" srcId="{04A5B903-4283-41FE-9F33-B2739469E640}" destId="{92DC871A-A10B-4862-9FEF-73FC2C4E8245}" srcOrd="1" destOrd="0" presId="urn:microsoft.com/office/officeart/2018/2/layout/IconVerticalSolidList"/>
    <dgm:cxn modelId="{B072C6D7-4657-417C-852E-2C39C926C1FF}" type="presParOf" srcId="{04A5B903-4283-41FE-9F33-B2739469E640}" destId="{05F31646-5C90-49C4-A1FC-11D90DE72312}" srcOrd="2" destOrd="0" presId="urn:microsoft.com/office/officeart/2018/2/layout/IconVerticalSolidList"/>
    <dgm:cxn modelId="{C4E5B70E-9EB5-4D71-98B2-26F2C7B3DC63}" type="presParOf" srcId="{04A5B903-4283-41FE-9F33-B2739469E640}" destId="{751106B0-7269-415F-9BC7-EFC4BDDEAFFB}" srcOrd="3" destOrd="0" presId="urn:microsoft.com/office/officeart/2018/2/layout/IconVerticalSolidList"/>
    <dgm:cxn modelId="{293DFD63-44AC-4648-AA84-EDEEDB3547E2}" type="presParOf" srcId="{DBD7BCCD-F07C-4E4E-B5E8-9DF2E19E008B}" destId="{2D70AF7D-F13F-4E51-A3B9-5B7FE8693979}" srcOrd="1" destOrd="0" presId="urn:microsoft.com/office/officeart/2018/2/layout/IconVerticalSolidList"/>
    <dgm:cxn modelId="{16B24E62-EFDA-47A1-88CC-138DFFA73A00}" type="presParOf" srcId="{DBD7BCCD-F07C-4E4E-B5E8-9DF2E19E008B}" destId="{31CDA7B8-2E63-47BA-BB0F-C4BC19BD8B34}" srcOrd="2" destOrd="0" presId="urn:microsoft.com/office/officeart/2018/2/layout/IconVerticalSolidList"/>
    <dgm:cxn modelId="{4492D6E7-1307-4070-A6E8-3CC974458762}" type="presParOf" srcId="{31CDA7B8-2E63-47BA-BB0F-C4BC19BD8B34}" destId="{29AF20F8-D53B-4D2A-BFF0-7AE7148C61EA}" srcOrd="0" destOrd="0" presId="urn:microsoft.com/office/officeart/2018/2/layout/IconVerticalSolidList"/>
    <dgm:cxn modelId="{BDB48D9C-D00B-401A-B499-5A5A32F4F4BF}" type="presParOf" srcId="{31CDA7B8-2E63-47BA-BB0F-C4BC19BD8B34}" destId="{510C0662-B679-44D7-9C40-606017FF5083}" srcOrd="1" destOrd="0" presId="urn:microsoft.com/office/officeart/2018/2/layout/IconVerticalSolidList"/>
    <dgm:cxn modelId="{AD930DD9-C797-4FDF-A9B9-D00C415932A8}" type="presParOf" srcId="{31CDA7B8-2E63-47BA-BB0F-C4BC19BD8B34}" destId="{ECDB03D9-BFAA-4A0E-9EA6-0B42E08DD07F}" srcOrd="2" destOrd="0" presId="urn:microsoft.com/office/officeart/2018/2/layout/IconVerticalSolidList"/>
    <dgm:cxn modelId="{EA47B066-7295-4EA7-A424-EB650FD43C2B}" type="presParOf" srcId="{31CDA7B8-2E63-47BA-BB0F-C4BC19BD8B34}" destId="{594DA72E-FA4F-4AE4-A3CD-543A9A292C0B}" srcOrd="3" destOrd="0" presId="urn:microsoft.com/office/officeart/2018/2/layout/IconVerticalSolidList"/>
    <dgm:cxn modelId="{5EF6B22C-7CE0-493A-B565-E46DDEA561DC}" type="presParOf" srcId="{DBD7BCCD-F07C-4E4E-B5E8-9DF2E19E008B}" destId="{497A94A8-3E00-4E3E-934F-D16DDCB41BDA}" srcOrd="3" destOrd="0" presId="urn:microsoft.com/office/officeart/2018/2/layout/IconVerticalSolidList"/>
    <dgm:cxn modelId="{C608A4B5-9DCE-441D-93F5-4C70CC7CD15F}" type="presParOf" srcId="{DBD7BCCD-F07C-4E4E-B5E8-9DF2E19E008B}" destId="{F601278C-389D-436B-86BE-1B43F7AC5FED}" srcOrd="4" destOrd="0" presId="urn:microsoft.com/office/officeart/2018/2/layout/IconVerticalSolidList"/>
    <dgm:cxn modelId="{0BFA9625-3F1D-4690-9E97-E445455824FC}" type="presParOf" srcId="{F601278C-389D-436B-86BE-1B43F7AC5FED}" destId="{4D304A89-4D1D-47F2-B67F-90E290D8734C}" srcOrd="0" destOrd="0" presId="urn:microsoft.com/office/officeart/2018/2/layout/IconVerticalSolidList"/>
    <dgm:cxn modelId="{BBF3C2A6-3A3C-42E6-BAC8-9E82817C9BD4}" type="presParOf" srcId="{F601278C-389D-436B-86BE-1B43F7AC5FED}" destId="{7D28A2B1-3687-4602-B79D-5291574993A1}" srcOrd="1" destOrd="0" presId="urn:microsoft.com/office/officeart/2018/2/layout/IconVerticalSolidList"/>
    <dgm:cxn modelId="{CAF6A424-3A25-4F71-A278-595D9B4D9474}" type="presParOf" srcId="{F601278C-389D-436B-86BE-1B43F7AC5FED}" destId="{FA6FFD1C-8CE2-49AF-A01B-1FB8A2BFDD55}" srcOrd="2" destOrd="0" presId="urn:microsoft.com/office/officeart/2018/2/layout/IconVerticalSolidList"/>
    <dgm:cxn modelId="{FE80B186-3161-482E-866D-993C75AA3BC6}" type="presParOf" srcId="{F601278C-389D-436B-86BE-1B43F7AC5FED}" destId="{B6AEA26E-7B3A-47A2-A46E-10CCF47910A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B71272-7D10-4380-8BEB-161548D9BCAF}">
      <dsp:nvSpPr>
        <dsp:cNvPr id="0" name=""/>
        <dsp:cNvSpPr/>
      </dsp:nvSpPr>
      <dsp:spPr>
        <a:xfrm>
          <a:off x="0" y="0"/>
          <a:ext cx="5825911" cy="81306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 może zrobić atakujący, gdy jego skrypt się uruchomi?</a:t>
          </a:r>
        </a:p>
      </dsp:txBody>
      <dsp:txXfrm>
        <a:off x="23814" y="23814"/>
        <a:ext cx="4853420" cy="765438"/>
      </dsp:txXfrm>
    </dsp:sp>
    <dsp:sp modelId="{CC80CB2A-A5AA-443F-95D3-DA1D40295AAA}">
      <dsp:nvSpPr>
        <dsp:cNvPr id="0" name=""/>
        <dsp:cNvSpPr/>
      </dsp:nvSpPr>
      <dsp:spPr>
        <a:xfrm>
          <a:off x="435051" y="925992"/>
          <a:ext cx="5825911" cy="813066"/>
        </a:xfrm>
        <a:prstGeom prst="roundRect">
          <a:avLst>
            <a:gd name="adj" fmla="val 10000"/>
          </a:avLst>
        </a:prstGeom>
        <a:solidFill>
          <a:schemeClr val="accent5">
            <a:hueOff val="2093851"/>
            <a:satOff val="224"/>
            <a:lumOff val="-431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Kradzież sesji (Session Hijacking):</a:t>
          </a:r>
          <a:r>
            <a:rPr lang="en-US" sz="1600" kern="1200"/>
            <a:t> Przechwycenie ciasteczek document.cookie i przejęcie konta ofiary.</a:t>
          </a:r>
        </a:p>
      </dsp:txBody>
      <dsp:txXfrm>
        <a:off x="458865" y="949806"/>
        <a:ext cx="4814738" cy="765438"/>
      </dsp:txXfrm>
    </dsp:sp>
    <dsp:sp modelId="{2E4D7600-B762-465F-9779-B436EAF63BAE}">
      <dsp:nvSpPr>
        <dsp:cNvPr id="0" name=""/>
        <dsp:cNvSpPr/>
      </dsp:nvSpPr>
      <dsp:spPr>
        <a:xfrm>
          <a:off x="870103" y="1851985"/>
          <a:ext cx="5825911" cy="813066"/>
        </a:xfrm>
        <a:prstGeom prst="roundRect">
          <a:avLst>
            <a:gd name="adj" fmla="val 10000"/>
          </a:avLst>
        </a:prstGeom>
        <a:solidFill>
          <a:schemeClr val="accent5">
            <a:hueOff val="4187701"/>
            <a:satOff val="449"/>
            <a:lumOff val="-862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Keylogging:</a:t>
          </a:r>
          <a:r>
            <a:rPr lang="en-US" sz="1600" kern="1200"/>
            <a:t> Rejestrowanie klawiszy wpisywanych przez użytkownika.</a:t>
          </a:r>
        </a:p>
      </dsp:txBody>
      <dsp:txXfrm>
        <a:off x="893917" y="1875799"/>
        <a:ext cx="4814738" cy="765438"/>
      </dsp:txXfrm>
    </dsp:sp>
    <dsp:sp modelId="{4EB19889-05D4-4A30-838E-6AC1382515E9}">
      <dsp:nvSpPr>
        <dsp:cNvPr id="0" name=""/>
        <dsp:cNvSpPr/>
      </dsp:nvSpPr>
      <dsp:spPr>
        <a:xfrm>
          <a:off x="1305155" y="2777977"/>
          <a:ext cx="5825911" cy="813066"/>
        </a:xfrm>
        <a:prstGeom prst="roundRect">
          <a:avLst>
            <a:gd name="adj" fmla="val 10000"/>
          </a:avLst>
        </a:prstGeom>
        <a:solidFill>
          <a:schemeClr val="accent5">
            <a:hueOff val="6281552"/>
            <a:satOff val="673"/>
            <a:lumOff val="-1294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Phishing:</a:t>
          </a:r>
          <a:r>
            <a:rPr lang="en-US" sz="1600" kern="1200"/>
            <a:t> Wyświetlenie fałszywego formularza logowania na prawdziwej stronie.</a:t>
          </a:r>
        </a:p>
      </dsp:txBody>
      <dsp:txXfrm>
        <a:off x="1328969" y="2801791"/>
        <a:ext cx="4814738" cy="765438"/>
      </dsp:txXfrm>
    </dsp:sp>
    <dsp:sp modelId="{4CAB884F-70D6-4F62-A97A-41EE397E19C9}">
      <dsp:nvSpPr>
        <dsp:cNvPr id="0" name=""/>
        <dsp:cNvSpPr/>
      </dsp:nvSpPr>
      <dsp:spPr>
        <a:xfrm>
          <a:off x="1740207" y="3703970"/>
          <a:ext cx="5825911" cy="813066"/>
        </a:xfrm>
        <a:prstGeom prst="roundRect">
          <a:avLst>
            <a:gd name="adj" fmla="val 10000"/>
          </a:avLst>
        </a:prstGeom>
        <a:solidFill>
          <a:schemeClr val="accent5">
            <a:hueOff val="8375403"/>
            <a:satOff val="897"/>
            <a:lumOff val="-1725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Przekierowanie:</a:t>
          </a:r>
          <a:r>
            <a:rPr lang="en-US" sz="1600" kern="1200"/>
            <a:t> Przeniesienie użytkownika na złośliwą witrynę.</a:t>
          </a:r>
        </a:p>
      </dsp:txBody>
      <dsp:txXfrm>
        <a:off x="1764021" y="3727784"/>
        <a:ext cx="4814738" cy="765438"/>
      </dsp:txXfrm>
    </dsp:sp>
    <dsp:sp modelId="{19B59F56-6F1F-48D5-BEDA-E3D765D98EB2}">
      <dsp:nvSpPr>
        <dsp:cNvPr id="0" name=""/>
        <dsp:cNvSpPr/>
      </dsp:nvSpPr>
      <dsp:spPr>
        <a:xfrm>
          <a:off x="5297418" y="593990"/>
          <a:ext cx="528493" cy="528493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416329" y="593990"/>
        <a:ext cx="290671" cy="397691"/>
      </dsp:txXfrm>
    </dsp:sp>
    <dsp:sp modelId="{000CA84F-BD73-41A5-B9CC-28F468E2E576}">
      <dsp:nvSpPr>
        <dsp:cNvPr id="0" name=""/>
        <dsp:cNvSpPr/>
      </dsp:nvSpPr>
      <dsp:spPr>
        <a:xfrm>
          <a:off x="5732470" y="1519982"/>
          <a:ext cx="528493" cy="528493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2680221"/>
            <a:satOff val="-18300"/>
            <a:lumOff val="-136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851381" y="1519982"/>
        <a:ext cx="290671" cy="397691"/>
      </dsp:txXfrm>
    </dsp:sp>
    <dsp:sp modelId="{289F746D-3F29-4D00-9679-A8D373784FB2}">
      <dsp:nvSpPr>
        <dsp:cNvPr id="0" name=""/>
        <dsp:cNvSpPr/>
      </dsp:nvSpPr>
      <dsp:spPr>
        <a:xfrm>
          <a:off x="6167521" y="2432424"/>
          <a:ext cx="528493" cy="528493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5360441"/>
            <a:satOff val="-36601"/>
            <a:lumOff val="-272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286432" y="2432424"/>
        <a:ext cx="290671" cy="397691"/>
      </dsp:txXfrm>
    </dsp:sp>
    <dsp:sp modelId="{68B37294-1E92-477A-AE28-D5292A88FDDE}">
      <dsp:nvSpPr>
        <dsp:cNvPr id="0" name=""/>
        <dsp:cNvSpPr/>
      </dsp:nvSpPr>
      <dsp:spPr>
        <a:xfrm>
          <a:off x="6602573" y="3367451"/>
          <a:ext cx="528493" cy="528493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8040662"/>
            <a:satOff val="-54901"/>
            <a:lumOff val="-408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721484" y="3367451"/>
        <a:ext cx="290671" cy="3976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21EF6F-47BE-4A4F-AA4D-757FD60F3457}">
      <dsp:nvSpPr>
        <dsp:cNvPr id="0" name=""/>
        <dsp:cNvSpPr/>
      </dsp:nvSpPr>
      <dsp:spPr>
        <a:xfrm>
          <a:off x="0" y="606"/>
          <a:ext cx="6620255" cy="14182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DC871A-A10B-4862-9FEF-73FC2C4E8245}">
      <dsp:nvSpPr>
        <dsp:cNvPr id="0" name=""/>
        <dsp:cNvSpPr/>
      </dsp:nvSpPr>
      <dsp:spPr>
        <a:xfrm>
          <a:off x="429029" y="319719"/>
          <a:ext cx="780053" cy="7800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1106B0-7269-415F-9BC7-EFC4BDDEAFFB}">
      <dsp:nvSpPr>
        <dsp:cNvPr id="0" name=""/>
        <dsp:cNvSpPr/>
      </dsp:nvSpPr>
      <dsp:spPr>
        <a:xfrm>
          <a:off x="1638113" y="606"/>
          <a:ext cx="4982142" cy="1418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101" tIns="150101" rIns="150101" bIns="15010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Sanityzacja danych wejściowych:</a:t>
          </a:r>
          <a:r>
            <a:rPr lang="en-US" sz="1800" kern="1200"/>
            <a:t> Usuwanie niebezpiecznych znaków z danych od użytkownika.</a:t>
          </a:r>
        </a:p>
      </dsp:txBody>
      <dsp:txXfrm>
        <a:off x="1638113" y="606"/>
        <a:ext cx="4982142" cy="1418279"/>
      </dsp:txXfrm>
    </dsp:sp>
    <dsp:sp modelId="{29AF20F8-D53B-4D2A-BFF0-7AE7148C61EA}">
      <dsp:nvSpPr>
        <dsp:cNvPr id="0" name=""/>
        <dsp:cNvSpPr/>
      </dsp:nvSpPr>
      <dsp:spPr>
        <a:xfrm>
          <a:off x="0" y="1773456"/>
          <a:ext cx="6620255" cy="14182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0C0662-B679-44D7-9C40-606017FF5083}">
      <dsp:nvSpPr>
        <dsp:cNvPr id="0" name=""/>
        <dsp:cNvSpPr/>
      </dsp:nvSpPr>
      <dsp:spPr>
        <a:xfrm>
          <a:off x="429029" y="2092569"/>
          <a:ext cx="780053" cy="7800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4DA72E-FA4F-4AE4-A3CD-543A9A292C0B}">
      <dsp:nvSpPr>
        <dsp:cNvPr id="0" name=""/>
        <dsp:cNvSpPr/>
      </dsp:nvSpPr>
      <dsp:spPr>
        <a:xfrm>
          <a:off x="1638113" y="1773456"/>
          <a:ext cx="4982142" cy="1418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101" tIns="150101" rIns="150101" bIns="15010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Kodowanie danych wyjściowych (Output Encoding):</a:t>
          </a:r>
          <a:r>
            <a:rPr lang="en-US" sz="1800" kern="1200"/>
            <a:t> Zamiana znaków specjalnych na encje HTML (np. &lt; na &amp;lt;), aby przeglądarka wyświetliła je jako tekst, a nie kod.</a:t>
          </a:r>
        </a:p>
      </dsp:txBody>
      <dsp:txXfrm>
        <a:off x="1638113" y="1773456"/>
        <a:ext cx="4982142" cy="1418279"/>
      </dsp:txXfrm>
    </dsp:sp>
    <dsp:sp modelId="{4D304A89-4D1D-47F2-B67F-90E290D8734C}">
      <dsp:nvSpPr>
        <dsp:cNvPr id="0" name=""/>
        <dsp:cNvSpPr/>
      </dsp:nvSpPr>
      <dsp:spPr>
        <a:xfrm>
          <a:off x="0" y="3546305"/>
          <a:ext cx="6620255" cy="14182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28A2B1-3687-4602-B79D-5291574993A1}">
      <dsp:nvSpPr>
        <dsp:cNvPr id="0" name=""/>
        <dsp:cNvSpPr/>
      </dsp:nvSpPr>
      <dsp:spPr>
        <a:xfrm>
          <a:off x="429029" y="3865418"/>
          <a:ext cx="780053" cy="7800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AEA26E-7B3A-47A2-A46E-10CCF47910A2}">
      <dsp:nvSpPr>
        <dsp:cNvPr id="0" name=""/>
        <dsp:cNvSpPr/>
      </dsp:nvSpPr>
      <dsp:spPr>
        <a:xfrm>
          <a:off x="1638113" y="3546305"/>
          <a:ext cx="4982142" cy="1418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101" tIns="150101" rIns="150101" bIns="15010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Content Security Policy (CSP):</a:t>
          </a:r>
          <a:r>
            <a:rPr lang="en-US" sz="1800" kern="1200"/>
            <a:t> Nagłówek HTTP, który mówi przeglądarce, z jakich źródeł może ładować skrypty.</a:t>
          </a:r>
        </a:p>
      </dsp:txBody>
      <dsp:txXfrm>
        <a:off x="1638113" y="3546305"/>
        <a:ext cx="4982142" cy="1418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872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129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71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0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676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673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650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75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8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454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788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6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4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hyperlink" Target="https://developer.mozilla.org/en-US/docs/Glossary/Cross-site_scripting" TargetMode="External"/><Relationship Id="rId7" Type="http://schemas.openxmlformats.org/officeDocument/2006/relationships/hyperlink" Target="https://www.wallarm.com/" TargetMode="External"/><Relationship Id="rId2" Type="http://schemas.openxmlformats.org/officeDocument/2006/relationships/hyperlink" Target="https://portswigger.net/web-security/cross-site-script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wasp.org/www-project-juice-shop/" TargetMode="External"/><Relationship Id="rId5" Type="http://schemas.openxmlformats.org/officeDocument/2006/relationships/hyperlink" Target="https://owasp.org/www-community/xss-prevention" TargetMode="External"/><Relationship Id="rId4" Type="http://schemas.openxmlformats.org/officeDocument/2006/relationships/hyperlink" Target="https://csp.withgoogle.com/docs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E73AF435-44C8-C44B-9352-ACFA393E2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521208" y="978407"/>
            <a:ext cx="4358503" cy="3137941"/>
          </a:xfrm>
        </p:spPr>
        <p:txBody>
          <a:bodyPr anchor="t">
            <a:normAutofit/>
          </a:bodyPr>
          <a:lstStyle/>
          <a:p>
            <a:r>
              <a:rPr lang="pl-PL" sz="6000">
                <a:ea typeface="+mj-lt"/>
                <a:cs typeface="+mj-lt"/>
              </a:rPr>
              <a:t>XSS</a:t>
            </a:r>
            <a:br>
              <a:rPr lang="pl-PL" sz="6000">
                <a:ea typeface="+mj-lt"/>
                <a:cs typeface="+mj-lt"/>
              </a:rPr>
            </a:br>
            <a:r>
              <a:rPr lang="pl-PL" sz="6000">
                <a:ea typeface="+mj-lt"/>
                <a:cs typeface="+mj-lt"/>
              </a:rPr>
              <a:t>Cross-site scripting</a:t>
            </a:r>
            <a:endParaRPr lang="en-US" sz="6000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521208" y="4469641"/>
            <a:ext cx="4307405" cy="137697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l-PL">
                <a:latin typeface="Aptos"/>
              </a:rPr>
              <a:t>Mateusz Wątor, Jakub Żak</a:t>
            </a:r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288058DF-7580-C88F-23F0-429412309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495" y="508090"/>
            <a:ext cx="4288568" cy="149279"/>
          </a:xfrm>
          <a:custGeom>
            <a:avLst/>
            <a:gdLst>
              <a:gd name="connsiteX0" fmla="*/ 0 w 6117427"/>
              <a:gd name="connsiteY0" fmla="*/ 0 h 149279"/>
              <a:gd name="connsiteX1" fmla="*/ 6117427 w 6117427"/>
              <a:gd name="connsiteY1" fmla="*/ 0 h 149279"/>
              <a:gd name="connsiteX2" fmla="*/ 6117427 w 6117427"/>
              <a:gd name="connsiteY2" fmla="*/ 149279 h 149279"/>
              <a:gd name="connsiteX3" fmla="*/ 0 w 611742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7427" h="149279">
                <a:moveTo>
                  <a:pt x="0" y="0"/>
                </a:moveTo>
                <a:lnTo>
                  <a:pt x="6117427" y="0"/>
                </a:lnTo>
                <a:lnTo>
                  <a:pt x="611742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43F82943-4565-9E0E-E9DB-5B7B417E6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07749"/>
            <a:ext cx="4307405" cy="45720"/>
          </a:xfrm>
          <a:custGeom>
            <a:avLst/>
            <a:gdLst>
              <a:gd name="connsiteX0" fmla="*/ 0 w 6144298"/>
              <a:gd name="connsiteY0" fmla="*/ 0 h 45720"/>
              <a:gd name="connsiteX1" fmla="*/ 5021183 w 6144298"/>
              <a:gd name="connsiteY1" fmla="*/ 0 h 45720"/>
              <a:gd name="connsiteX2" fmla="*/ 5021183 w 6144298"/>
              <a:gd name="connsiteY2" fmla="*/ 1 h 45720"/>
              <a:gd name="connsiteX3" fmla="*/ 6144298 w 6144298"/>
              <a:gd name="connsiteY3" fmla="*/ 1 h 45720"/>
              <a:gd name="connsiteX4" fmla="*/ 6144298 w 6144298"/>
              <a:gd name="connsiteY4" fmla="*/ 45720 h 45720"/>
              <a:gd name="connsiteX5" fmla="*/ 1123115 w 6144298"/>
              <a:gd name="connsiteY5" fmla="*/ 45720 h 45720"/>
              <a:gd name="connsiteX6" fmla="*/ 1123115 w 6144298"/>
              <a:gd name="connsiteY6" fmla="*/ 45719 h 45720"/>
              <a:gd name="connsiteX7" fmla="*/ 0 w 6144298"/>
              <a:gd name="connsiteY7" fmla="*/ 45719 h 45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44298" h="45720">
                <a:moveTo>
                  <a:pt x="0" y="0"/>
                </a:moveTo>
                <a:lnTo>
                  <a:pt x="5021183" y="0"/>
                </a:lnTo>
                <a:lnTo>
                  <a:pt x="5021183" y="1"/>
                </a:lnTo>
                <a:lnTo>
                  <a:pt x="6144298" y="1"/>
                </a:lnTo>
                <a:lnTo>
                  <a:pt x="6144298" y="45720"/>
                </a:lnTo>
                <a:lnTo>
                  <a:pt x="1123115" y="45720"/>
                </a:lnTo>
                <a:lnTo>
                  <a:pt x="112311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4C06FA89-20F4-BE77-2CD0-BB975A00DB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382" r="3" b="3"/>
          <a:stretch>
            <a:fillRect/>
          </a:stretch>
        </p:blipFill>
        <p:spPr>
          <a:xfrm>
            <a:off x="5398477" y="508090"/>
            <a:ext cx="6271028" cy="5745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FD5D62-8EF5-4851-9F4D-4EDAFE9DA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71490" cy="909808"/>
          </a:xfrm>
        </p:spPr>
        <p:txBody>
          <a:bodyPr>
            <a:normAutofit/>
          </a:bodyPr>
          <a:lstStyle/>
          <a:p>
            <a:r>
              <a:rPr lang="en-US" err="1">
                <a:latin typeface="Aptos Display"/>
                <a:ea typeface="+mj-lt"/>
                <a:cs typeface="+mj-lt"/>
              </a:rPr>
              <a:t>Czym</a:t>
            </a:r>
            <a:r>
              <a:rPr lang="en-US">
                <a:latin typeface="Aptos Display"/>
                <a:ea typeface="+mj-lt"/>
                <a:cs typeface="+mj-lt"/>
              </a:rPr>
              <a:t> jest XSS?</a:t>
            </a:r>
            <a:endParaRPr lang="en-US">
              <a:latin typeface="Aptos Display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D6CBA-4BA7-63B9-5E22-85E7B3435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89677"/>
            <a:ext cx="6271490" cy="44562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 err="1">
                <a:latin typeface="Aptos Display"/>
                <a:ea typeface="+mn-lt"/>
                <a:cs typeface="+mn-lt"/>
              </a:rPr>
              <a:t>Definicja</a:t>
            </a:r>
            <a:r>
              <a:rPr lang="en-US" sz="2000" b="1">
                <a:latin typeface="Aptos Display"/>
                <a:ea typeface="+mn-lt"/>
                <a:cs typeface="+mn-lt"/>
              </a:rPr>
              <a:t>:</a:t>
            </a:r>
            <a:r>
              <a:rPr lang="en-US" sz="2000">
                <a:latin typeface="Aptos Display"/>
                <a:ea typeface="+mn-lt"/>
                <a:cs typeface="+mn-lt"/>
              </a:rPr>
              <a:t> XSS (Cross-Site Scripting) to </a:t>
            </a:r>
            <a:r>
              <a:rPr lang="en-US" sz="2000" err="1">
                <a:latin typeface="Aptos Display"/>
                <a:ea typeface="+mn-lt"/>
                <a:cs typeface="+mn-lt"/>
              </a:rPr>
              <a:t>podatność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bezpieczeństwa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aplikacji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internetowych</a:t>
            </a:r>
            <a:r>
              <a:rPr lang="en-US" sz="2000">
                <a:latin typeface="Aptos Display"/>
                <a:ea typeface="+mn-lt"/>
                <a:cs typeface="+mn-lt"/>
              </a:rPr>
              <a:t>, </a:t>
            </a:r>
            <a:r>
              <a:rPr lang="en-US" sz="2000" err="1">
                <a:latin typeface="Aptos Display"/>
                <a:ea typeface="+mn-lt"/>
                <a:cs typeface="+mn-lt"/>
              </a:rPr>
              <a:t>która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umożliwia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atakującemu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wstrzyknięcie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złośliwego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kodu</a:t>
            </a:r>
            <a:r>
              <a:rPr lang="en-US" sz="2000">
                <a:latin typeface="Aptos Display"/>
                <a:ea typeface="+mn-lt"/>
                <a:cs typeface="+mn-lt"/>
              </a:rPr>
              <a:t> (</a:t>
            </a:r>
            <a:r>
              <a:rPr lang="en-US" sz="2000" err="1">
                <a:latin typeface="Aptos Display"/>
                <a:ea typeface="+mn-lt"/>
                <a:cs typeface="+mn-lt"/>
              </a:rPr>
              <a:t>zazwyczaj</a:t>
            </a:r>
            <a:r>
              <a:rPr lang="en-US" sz="2000">
                <a:latin typeface="Aptos Display"/>
                <a:ea typeface="+mn-lt"/>
                <a:cs typeface="+mn-lt"/>
              </a:rPr>
              <a:t> JavaScript) do </a:t>
            </a:r>
            <a:r>
              <a:rPr lang="en-US" sz="2000" err="1">
                <a:latin typeface="Aptos Display"/>
                <a:ea typeface="+mn-lt"/>
                <a:cs typeface="+mn-lt"/>
              </a:rPr>
              <a:t>stron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oglądanych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przez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innych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użytkowników</a:t>
            </a:r>
            <a:r>
              <a:rPr lang="en-US" sz="2000">
                <a:latin typeface="Aptos Display"/>
                <a:ea typeface="+mn-lt"/>
                <a:cs typeface="+mn-lt"/>
              </a:rPr>
              <a:t>.</a:t>
            </a:r>
          </a:p>
          <a:p>
            <a:r>
              <a:rPr lang="en-US" sz="2000" b="1" err="1">
                <a:latin typeface="Aptos Display"/>
                <a:ea typeface="+mn-lt"/>
                <a:cs typeface="+mn-lt"/>
              </a:rPr>
              <a:t>Pochodzenie</a:t>
            </a:r>
            <a:r>
              <a:rPr lang="en-US" sz="2000" b="1">
                <a:latin typeface="Aptos Display"/>
                <a:ea typeface="+mn-lt"/>
                <a:cs typeface="+mn-lt"/>
              </a:rPr>
              <a:t> </a:t>
            </a:r>
            <a:r>
              <a:rPr lang="en-US" sz="2000" b="1" err="1">
                <a:latin typeface="Aptos Display"/>
                <a:ea typeface="+mn-lt"/>
                <a:cs typeface="+mn-lt"/>
              </a:rPr>
              <a:t>nazwy</a:t>
            </a:r>
            <a:r>
              <a:rPr lang="en-US" sz="2000" b="1">
                <a:latin typeface="Aptos Display"/>
                <a:ea typeface="+mn-lt"/>
                <a:cs typeface="+mn-lt"/>
              </a:rPr>
              <a:t>: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Historycznie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chodziło</a:t>
            </a:r>
            <a:r>
              <a:rPr lang="en-US" sz="2000">
                <a:latin typeface="Aptos Display"/>
                <a:ea typeface="+mn-lt"/>
                <a:cs typeface="+mn-lt"/>
              </a:rPr>
              <a:t> o </a:t>
            </a:r>
            <a:r>
              <a:rPr lang="en-US" sz="2000" err="1">
                <a:latin typeface="Aptos Display"/>
                <a:ea typeface="+mn-lt"/>
                <a:cs typeface="+mn-lt"/>
              </a:rPr>
              <a:t>przesyłanie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skryptów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między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stronami</a:t>
            </a:r>
            <a:r>
              <a:rPr lang="en-US" sz="2000">
                <a:latin typeface="Aptos Display"/>
                <a:ea typeface="+mn-lt"/>
                <a:cs typeface="+mn-lt"/>
              </a:rPr>
              <a:t> (cross-site), </a:t>
            </a:r>
            <a:r>
              <a:rPr lang="en-US" sz="2000" err="1">
                <a:latin typeface="Aptos Display"/>
                <a:ea typeface="+mn-lt"/>
                <a:cs typeface="+mn-lt"/>
              </a:rPr>
              <a:t>dziś</a:t>
            </a:r>
            <a:r>
              <a:rPr lang="en-US" sz="2000">
                <a:latin typeface="Aptos Display"/>
                <a:ea typeface="+mn-lt"/>
                <a:cs typeface="+mn-lt"/>
              </a:rPr>
              <a:t> to </a:t>
            </a:r>
            <a:r>
              <a:rPr lang="en-US" sz="2000" err="1">
                <a:latin typeface="Aptos Display"/>
                <a:ea typeface="+mn-lt"/>
                <a:cs typeface="+mn-lt"/>
              </a:rPr>
              <a:t>głównie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wstrzykiwanie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kodu</a:t>
            </a:r>
            <a:r>
              <a:rPr lang="en-US" sz="2000">
                <a:latin typeface="Aptos Display"/>
                <a:ea typeface="+mn-lt"/>
                <a:cs typeface="+mn-lt"/>
              </a:rPr>
              <a:t> w </a:t>
            </a:r>
            <a:r>
              <a:rPr lang="en-US" sz="2000" err="1">
                <a:latin typeface="Aptos Display"/>
                <a:ea typeface="+mn-lt"/>
                <a:cs typeface="+mn-lt"/>
              </a:rPr>
              <a:t>obrębie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jednej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witryny</a:t>
            </a:r>
            <a:r>
              <a:rPr lang="en-US" sz="2000">
                <a:latin typeface="Aptos Display"/>
                <a:ea typeface="+mn-lt"/>
                <a:cs typeface="+mn-lt"/>
              </a:rPr>
              <a:t>.</a:t>
            </a:r>
          </a:p>
          <a:p>
            <a:r>
              <a:rPr lang="en-US" sz="2000" b="1" err="1">
                <a:latin typeface="Aptos Display"/>
                <a:ea typeface="+mn-lt"/>
                <a:cs typeface="+mn-lt"/>
              </a:rPr>
              <a:t>Kluczowa</a:t>
            </a:r>
            <a:r>
              <a:rPr lang="en-US" sz="2000" b="1">
                <a:latin typeface="Aptos Display"/>
                <a:ea typeface="+mn-lt"/>
                <a:cs typeface="+mn-lt"/>
              </a:rPr>
              <a:t> </a:t>
            </a:r>
            <a:r>
              <a:rPr lang="en-US" sz="2000" b="1" err="1">
                <a:latin typeface="Aptos Display"/>
                <a:ea typeface="+mn-lt"/>
                <a:cs typeface="+mn-lt"/>
              </a:rPr>
              <a:t>zasada</a:t>
            </a:r>
            <a:r>
              <a:rPr lang="en-US" sz="2000" b="1">
                <a:latin typeface="Aptos Display"/>
                <a:ea typeface="+mn-lt"/>
                <a:cs typeface="+mn-lt"/>
              </a:rPr>
              <a:t>: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Aplikacja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traktuje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dane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wprowadzone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przez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użytkownika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jako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kod</a:t>
            </a:r>
            <a:r>
              <a:rPr lang="en-US" sz="2000">
                <a:latin typeface="Aptos Display"/>
                <a:ea typeface="+mn-lt"/>
                <a:cs typeface="+mn-lt"/>
              </a:rPr>
              <a:t> do </a:t>
            </a:r>
            <a:r>
              <a:rPr lang="en-US" sz="2000" err="1">
                <a:latin typeface="Aptos Display"/>
                <a:ea typeface="+mn-lt"/>
                <a:cs typeface="+mn-lt"/>
              </a:rPr>
              <a:t>wykonania</a:t>
            </a:r>
            <a:r>
              <a:rPr lang="en-US" sz="2000">
                <a:latin typeface="Aptos Display"/>
                <a:ea typeface="+mn-lt"/>
                <a:cs typeface="+mn-lt"/>
              </a:rPr>
              <a:t>, a </a:t>
            </a:r>
            <a:r>
              <a:rPr lang="en-US" sz="2000" err="1">
                <a:latin typeface="Aptos Display"/>
                <a:ea typeface="+mn-lt"/>
                <a:cs typeface="+mn-lt"/>
              </a:rPr>
              <a:t>nie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zwykły</a:t>
            </a:r>
            <a:r>
              <a:rPr lang="en-US" sz="2000">
                <a:latin typeface="Aptos Display"/>
                <a:ea typeface="+mn-lt"/>
                <a:cs typeface="+mn-lt"/>
              </a:rPr>
              <a:t> </a:t>
            </a:r>
            <a:r>
              <a:rPr lang="en-US" sz="2000" err="1">
                <a:latin typeface="Aptos Display"/>
                <a:ea typeface="+mn-lt"/>
                <a:cs typeface="+mn-lt"/>
              </a:rPr>
              <a:t>tekst</a:t>
            </a:r>
            <a:r>
              <a:rPr lang="en-US" sz="2000">
                <a:latin typeface="Aptos Display"/>
                <a:ea typeface="+mn-lt"/>
                <a:cs typeface="+mn-lt"/>
              </a:rPr>
              <a:t>.</a:t>
            </a:r>
          </a:p>
        </p:txBody>
      </p:sp>
      <p:pic>
        <p:nvPicPr>
          <p:cNvPr id="4" name="Picture 3" descr="1+ Hundred Xss Royalty-Free Images, Stock Photos &amp; Pictures | Shutterstock">
            <a:extLst>
              <a:ext uri="{FF2B5EF4-FFF2-40B4-BE49-F238E27FC236}">
                <a16:creationId xmlns:a16="http://schemas.microsoft.com/office/drawing/2014/main" id="{DA1B9024-3BBE-5FCF-E31D-971814B17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668" y="1659532"/>
            <a:ext cx="4356461" cy="469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649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F5E5F4-0140-13DA-6BC0-3B89C8466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67035"/>
            <a:ext cx="3200400" cy="646722"/>
          </a:xfrm>
        </p:spPr>
        <p:txBody>
          <a:bodyPr anchor="b">
            <a:normAutofit fontScale="90000"/>
          </a:bodyPr>
          <a:lstStyle/>
          <a:p>
            <a:r>
              <a:rPr lang="en-US" sz="4000">
                <a:latin typeface="Aptos Display"/>
                <a:ea typeface="+mj-lt"/>
                <a:cs typeface="+mj-lt"/>
              </a:rPr>
              <a:t>Rodzaje XSS</a:t>
            </a:r>
            <a:endParaRPr lang="en-US" sz="4000">
              <a:latin typeface="Aptos Display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45CB0-E64A-C358-F42C-4B6E7DDD4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367295"/>
            <a:ext cx="4758519" cy="39764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err="1">
                <a:latin typeface="Aptos Display"/>
                <a:ea typeface="+mn-lt"/>
                <a:cs typeface="+mn-lt"/>
              </a:rPr>
              <a:t>Wyróżniamy</a:t>
            </a:r>
            <a:r>
              <a:rPr lang="en-US" b="1">
                <a:latin typeface="Aptos Display"/>
                <a:ea typeface="+mn-lt"/>
                <a:cs typeface="+mn-lt"/>
              </a:rPr>
              <a:t> </a:t>
            </a:r>
            <a:r>
              <a:rPr lang="en-US" b="1" err="1">
                <a:latin typeface="Aptos Display"/>
                <a:ea typeface="+mn-lt"/>
                <a:cs typeface="+mn-lt"/>
              </a:rPr>
              <a:t>trzy</a:t>
            </a:r>
            <a:r>
              <a:rPr lang="en-US" b="1">
                <a:latin typeface="Aptos Display"/>
                <a:ea typeface="+mn-lt"/>
                <a:cs typeface="+mn-lt"/>
              </a:rPr>
              <a:t> </a:t>
            </a:r>
            <a:r>
              <a:rPr lang="en-US" b="1" err="1">
                <a:latin typeface="Aptos Display"/>
                <a:ea typeface="+mn-lt"/>
                <a:cs typeface="+mn-lt"/>
              </a:rPr>
              <a:t>główne</a:t>
            </a:r>
            <a:r>
              <a:rPr lang="en-US" b="1">
                <a:latin typeface="Aptos Display"/>
                <a:ea typeface="+mn-lt"/>
                <a:cs typeface="+mn-lt"/>
              </a:rPr>
              <a:t> </a:t>
            </a:r>
            <a:r>
              <a:rPr lang="en-US" b="1" err="1">
                <a:latin typeface="Aptos Display"/>
                <a:ea typeface="+mn-lt"/>
                <a:cs typeface="+mn-lt"/>
              </a:rPr>
              <a:t>typy</a:t>
            </a:r>
            <a:r>
              <a:rPr lang="en-US" b="1">
                <a:latin typeface="Aptos Display"/>
                <a:ea typeface="+mn-lt"/>
                <a:cs typeface="+mn-lt"/>
              </a:rPr>
              <a:t>:</a:t>
            </a:r>
            <a:endParaRPr lang="en-US" b="1">
              <a:latin typeface="Aptos Display"/>
            </a:endParaRPr>
          </a:p>
          <a:p>
            <a:r>
              <a:rPr lang="en-US">
                <a:latin typeface="Aptos Display"/>
                <a:ea typeface="+mn-lt"/>
                <a:cs typeface="+mn-lt"/>
              </a:rPr>
              <a:t>Reflected XSS (</a:t>
            </a:r>
            <a:r>
              <a:rPr lang="en-US" err="1">
                <a:latin typeface="Aptos Display"/>
                <a:ea typeface="+mn-lt"/>
                <a:cs typeface="+mn-lt"/>
              </a:rPr>
              <a:t>Odbity</a:t>
            </a:r>
            <a:r>
              <a:rPr lang="en-US">
                <a:latin typeface="Aptos Display"/>
                <a:ea typeface="+mn-lt"/>
                <a:cs typeface="+mn-lt"/>
              </a:rPr>
              <a:t>)</a:t>
            </a:r>
            <a:endParaRPr lang="en-US">
              <a:latin typeface="Aptos Display"/>
            </a:endParaRPr>
          </a:p>
          <a:p>
            <a:r>
              <a:rPr lang="en-US">
                <a:latin typeface="Aptos Display"/>
                <a:ea typeface="+mn-lt"/>
                <a:cs typeface="+mn-lt"/>
              </a:rPr>
              <a:t>Stored XSS (</a:t>
            </a:r>
            <a:r>
              <a:rPr lang="en-US" err="1">
                <a:latin typeface="Aptos Display"/>
                <a:ea typeface="+mn-lt"/>
                <a:cs typeface="+mn-lt"/>
              </a:rPr>
              <a:t>Trwały</a:t>
            </a:r>
            <a:r>
              <a:rPr lang="en-US">
                <a:latin typeface="Aptos Display"/>
                <a:ea typeface="+mn-lt"/>
                <a:cs typeface="+mn-lt"/>
              </a:rPr>
              <a:t>/</a:t>
            </a:r>
            <a:r>
              <a:rPr lang="en-US" err="1">
                <a:latin typeface="Aptos Display"/>
                <a:ea typeface="+mn-lt"/>
                <a:cs typeface="+mn-lt"/>
              </a:rPr>
              <a:t>Zapisany</a:t>
            </a:r>
            <a:r>
              <a:rPr lang="en-US">
                <a:latin typeface="Aptos Display"/>
                <a:ea typeface="+mn-lt"/>
                <a:cs typeface="+mn-lt"/>
              </a:rPr>
              <a:t>)</a:t>
            </a:r>
            <a:endParaRPr lang="en-US">
              <a:latin typeface="Aptos Display"/>
            </a:endParaRPr>
          </a:p>
          <a:p>
            <a:r>
              <a:rPr lang="en-US">
                <a:latin typeface="Aptos Display"/>
                <a:ea typeface="+mn-lt"/>
                <a:cs typeface="+mn-lt"/>
              </a:rPr>
              <a:t>DOM-based XSS</a:t>
            </a:r>
            <a:endParaRPr lang="en-US">
              <a:latin typeface="Aptos Display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BD4E53-1F1A-0C72-F06B-DFF01AA54B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1" r="-2" b="8693"/>
          <a:stretch>
            <a:fillRect/>
          </a:stretch>
        </p:blipFill>
        <p:spPr>
          <a:xfrm>
            <a:off x="5660609" y="1289377"/>
            <a:ext cx="5578004" cy="393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130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D5E519-9D79-2307-9778-17BB8059D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Reflected XSS</a:t>
            </a:r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36E9B7-0EC8-6124-AFED-30269FBBCE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58"/>
          <a:stretch>
            <a:fillRect/>
          </a:stretch>
        </p:blipFill>
        <p:spPr>
          <a:xfrm>
            <a:off x="517866" y="2429691"/>
            <a:ext cx="6281929" cy="391631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62E3D-21BD-D1EC-046B-1C8D07219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8080" y="1033272"/>
            <a:ext cx="4169664" cy="53126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err="1">
                <a:latin typeface="Aptos Display"/>
                <a:ea typeface="+mn-lt"/>
                <a:cs typeface="+mn-lt"/>
              </a:rPr>
              <a:t>Mechanizm</a:t>
            </a:r>
            <a:r>
              <a:rPr lang="en-US" b="1">
                <a:latin typeface="Aptos Display"/>
                <a:ea typeface="+mn-lt"/>
                <a:cs typeface="+mn-lt"/>
              </a:rPr>
              <a:t>: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Atakujący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wysyła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ofierze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złośliwy</a:t>
            </a:r>
            <a:r>
              <a:rPr lang="en-US">
                <a:latin typeface="Aptos Display"/>
                <a:ea typeface="+mn-lt"/>
                <a:cs typeface="+mn-lt"/>
              </a:rPr>
              <a:t> link.</a:t>
            </a:r>
            <a:endParaRPr lang="en-US">
              <a:latin typeface="Aptos Display"/>
            </a:endParaRPr>
          </a:p>
          <a:p>
            <a:r>
              <a:rPr lang="en-US">
                <a:latin typeface="Aptos Display"/>
                <a:ea typeface="+mn-lt"/>
                <a:cs typeface="+mn-lt"/>
              </a:rPr>
              <a:t>Serwer "</a:t>
            </a:r>
            <a:r>
              <a:rPr lang="en-US" err="1">
                <a:latin typeface="Aptos Display"/>
                <a:ea typeface="+mn-lt"/>
                <a:cs typeface="+mn-lt"/>
              </a:rPr>
              <a:t>odbija</a:t>
            </a:r>
            <a:r>
              <a:rPr lang="en-US">
                <a:latin typeface="Aptos Display"/>
                <a:ea typeface="+mn-lt"/>
                <a:cs typeface="+mn-lt"/>
              </a:rPr>
              <a:t>" </a:t>
            </a:r>
            <a:r>
              <a:rPr lang="en-US" err="1">
                <a:latin typeface="Aptos Display"/>
                <a:ea typeface="+mn-lt"/>
                <a:cs typeface="+mn-lt"/>
              </a:rPr>
              <a:t>złośliwy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skrypt</a:t>
            </a:r>
            <a:r>
              <a:rPr lang="en-US">
                <a:latin typeface="Aptos Display"/>
                <a:ea typeface="+mn-lt"/>
                <a:cs typeface="+mn-lt"/>
              </a:rPr>
              <a:t> z </a:t>
            </a:r>
            <a:r>
              <a:rPr lang="en-US" err="1">
                <a:latin typeface="Aptos Display"/>
                <a:ea typeface="+mn-lt"/>
                <a:cs typeface="+mn-lt"/>
              </a:rPr>
              <a:t>żądania</a:t>
            </a:r>
            <a:r>
              <a:rPr lang="en-US">
                <a:latin typeface="Aptos Display"/>
                <a:ea typeface="+mn-lt"/>
                <a:cs typeface="+mn-lt"/>
              </a:rPr>
              <a:t> w </a:t>
            </a:r>
            <a:r>
              <a:rPr lang="en-US" err="1">
                <a:latin typeface="Aptos Display"/>
                <a:ea typeface="+mn-lt"/>
                <a:cs typeface="+mn-lt"/>
              </a:rPr>
              <a:t>odpowiedzi</a:t>
            </a:r>
            <a:r>
              <a:rPr lang="en-US">
                <a:latin typeface="Aptos Display"/>
                <a:ea typeface="+mn-lt"/>
                <a:cs typeface="+mn-lt"/>
              </a:rPr>
              <a:t> (np. w </a:t>
            </a:r>
            <a:r>
              <a:rPr lang="en-US" err="1">
                <a:latin typeface="Aptos Display"/>
                <a:ea typeface="+mn-lt"/>
                <a:cs typeface="+mn-lt"/>
              </a:rPr>
              <a:t>komunikacie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błędu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lub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wynikach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wyszukiwania</a:t>
            </a:r>
            <a:r>
              <a:rPr lang="en-US">
                <a:latin typeface="Aptos Display"/>
                <a:ea typeface="+mn-lt"/>
                <a:cs typeface="+mn-lt"/>
              </a:rPr>
              <a:t>).</a:t>
            </a:r>
            <a:endParaRPr lang="en-US">
              <a:latin typeface="Aptos Display"/>
            </a:endParaRPr>
          </a:p>
          <a:p>
            <a:r>
              <a:rPr lang="en-US" err="1">
                <a:latin typeface="Aptos Display"/>
                <a:ea typeface="+mn-lt"/>
                <a:cs typeface="+mn-lt"/>
              </a:rPr>
              <a:t>Wymaga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interakcji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ofiary</a:t>
            </a:r>
            <a:r>
              <a:rPr lang="en-US">
                <a:latin typeface="Aptos Display"/>
                <a:ea typeface="+mn-lt"/>
                <a:cs typeface="+mn-lt"/>
              </a:rPr>
              <a:t> (</a:t>
            </a:r>
            <a:r>
              <a:rPr lang="en-US" err="1">
                <a:latin typeface="Aptos Display"/>
                <a:ea typeface="+mn-lt"/>
                <a:cs typeface="+mn-lt"/>
              </a:rPr>
              <a:t>kliknięcie</a:t>
            </a:r>
            <a:r>
              <a:rPr lang="en-US">
                <a:latin typeface="Aptos Display"/>
                <a:ea typeface="+mn-lt"/>
                <a:cs typeface="+mn-lt"/>
              </a:rPr>
              <a:t> w link).</a:t>
            </a:r>
            <a:endParaRPr lang="en-US">
              <a:latin typeface="Aptos Display"/>
            </a:endParaRPr>
          </a:p>
          <a:p>
            <a:r>
              <a:rPr lang="en-US" err="1">
                <a:latin typeface="Aptos Display"/>
                <a:ea typeface="+mn-lt"/>
                <a:cs typeface="+mn-lt"/>
              </a:rPr>
              <a:t>Często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wykorzystywany</a:t>
            </a:r>
            <a:r>
              <a:rPr lang="en-US">
                <a:latin typeface="Aptos Display"/>
                <a:ea typeface="+mn-lt"/>
                <a:cs typeface="+mn-lt"/>
              </a:rPr>
              <a:t> w </a:t>
            </a:r>
            <a:r>
              <a:rPr lang="en-US" err="1">
                <a:latin typeface="Aptos Display"/>
                <a:ea typeface="+mn-lt"/>
                <a:cs typeface="+mn-lt"/>
              </a:rPr>
              <a:t>kampaniach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phishingowych</a:t>
            </a:r>
            <a:r>
              <a:rPr lang="en-US">
                <a:latin typeface="Aptos Display"/>
                <a:ea typeface="+mn-lt"/>
                <a:cs typeface="+mn-lt"/>
              </a:rPr>
              <a:t>.</a:t>
            </a:r>
            <a:endParaRPr lang="en-US">
              <a:latin typeface="Aptos Display"/>
            </a:endParaRPr>
          </a:p>
          <a:p>
            <a:endParaRPr lang="en-US"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336063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D3E2BD-3E6D-DCC7-EA5B-DB8D0510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r>
              <a:rPr lang="en-US"/>
              <a:t>Stored XSS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A7: Cross-Site Scripting (XSS) 💻 - Top 10 OWASP 2022">
            <a:extLst>
              <a:ext uri="{FF2B5EF4-FFF2-40B4-BE49-F238E27FC236}">
                <a16:creationId xmlns:a16="http://schemas.microsoft.com/office/drawing/2014/main" id="{F8355116-5BAC-A2A9-DB37-315830840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67" y="2576847"/>
            <a:ext cx="6281928" cy="376915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CFE31-AFB8-26D2-5699-13B3878E7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err="1">
                <a:latin typeface="Aptos Display"/>
                <a:ea typeface="+mn-lt"/>
                <a:cs typeface="+mn-lt"/>
              </a:rPr>
              <a:t>Mechanizm</a:t>
            </a:r>
            <a:r>
              <a:rPr lang="en-US" b="1">
                <a:latin typeface="Aptos Display"/>
                <a:ea typeface="+mn-lt"/>
                <a:cs typeface="+mn-lt"/>
              </a:rPr>
              <a:t>: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Złośliwy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kod</a:t>
            </a:r>
            <a:r>
              <a:rPr lang="en-US">
                <a:latin typeface="Aptos Display"/>
                <a:ea typeface="+mn-lt"/>
                <a:cs typeface="+mn-lt"/>
              </a:rPr>
              <a:t> jest </a:t>
            </a:r>
            <a:r>
              <a:rPr lang="en-US" err="1">
                <a:latin typeface="Aptos Display"/>
                <a:ea typeface="+mn-lt"/>
                <a:cs typeface="+mn-lt"/>
              </a:rPr>
              <a:t>zapisywany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na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stałe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na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serwerze</a:t>
            </a:r>
            <a:r>
              <a:rPr lang="en-US">
                <a:latin typeface="Aptos Display"/>
                <a:ea typeface="+mn-lt"/>
                <a:cs typeface="+mn-lt"/>
              </a:rPr>
              <a:t> (</a:t>
            </a:r>
            <a:r>
              <a:rPr lang="en-US" err="1">
                <a:latin typeface="Aptos Display"/>
                <a:ea typeface="+mn-lt"/>
                <a:cs typeface="+mn-lt"/>
              </a:rPr>
              <a:t>baza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danych</a:t>
            </a:r>
            <a:r>
              <a:rPr lang="en-US">
                <a:latin typeface="Aptos Display"/>
                <a:ea typeface="+mn-lt"/>
                <a:cs typeface="+mn-lt"/>
              </a:rPr>
              <a:t>, system </a:t>
            </a:r>
            <a:r>
              <a:rPr lang="en-US" err="1">
                <a:latin typeface="Aptos Display"/>
                <a:ea typeface="+mn-lt"/>
                <a:cs typeface="+mn-lt"/>
              </a:rPr>
              <a:t>plików</a:t>
            </a:r>
            <a:r>
              <a:rPr lang="en-US">
                <a:latin typeface="Aptos Display"/>
                <a:ea typeface="+mn-lt"/>
                <a:cs typeface="+mn-lt"/>
              </a:rPr>
              <a:t>, </a:t>
            </a:r>
            <a:r>
              <a:rPr lang="en-US" err="1">
                <a:latin typeface="Aptos Display"/>
                <a:ea typeface="+mn-lt"/>
                <a:cs typeface="+mn-lt"/>
              </a:rPr>
              <a:t>logi</a:t>
            </a:r>
            <a:r>
              <a:rPr lang="en-US">
                <a:latin typeface="Aptos Display"/>
                <a:ea typeface="+mn-lt"/>
                <a:cs typeface="+mn-lt"/>
              </a:rPr>
              <a:t>).</a:t>
            </a:r>
            <a:endParaRPr lang="en-US">
              <a:latin typeface="Aptos Display"/>
            </a:endParaRPr>
          </a:p>
          <a:p>
            <a:r>
              <a:rPr lang="en-US" err="1">
                <a:latin typeface="Aptos Display"/>
                <a:ea typeface="+mn-lt"/>
                <a:cs typeface="+mn-lt"/>
              </a:rPr>
              <a:t>Każdy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użytkownik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odwiedzający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zainfekowaną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podstronę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staje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się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ofiarą</a:t>
            </a:r>
            <a:r>
              <a:rPr lang="en-US">
                <a:latin typeface="Aptos Display"/>
                <a:ea typeface="+mn-lt"/>
                <a:cs typeface="+mn-lt"/>
              </a:rPr>
              <a:t>.</a:t>
            </a:r>
            <a:endParaRPr lang="en-US">
              <a:latin typeface="Aptos Display"/>
            </a:endParaRPr>
          </a:p>
          <a:p>
            <a:r>
              <a:rPr lang="en-US">
                <a:latin typeface="Aptos Display"/>
                <a:ea typeface="+mn-lt"/>
                <a:cs typeface="+mn-lt"/>
              </a:rPr>
              <a:t>Nie </a:t>
            </a:r>
            <a:r>
              <a:rPr lang="en-US" err="1">
                <a:latin typeface="Aptos Display"/>
                <a:ea typeface="+mn-lt"/>
                <a:cs typeface="+mn-lt"/>
              </a:rPr>
              <a:t>wymaga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wysyłania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linków</a:t>
            </a:r>
            <a:r>
              <a:rPr lang="en-US">
                <a:latin typeface="Aptos Display"/>
                <a:ea typeface="+mn-lt"/>
                <a:cs typeface="+mn-lt"/>
              </a:rPr>
              <a:t> do </a:t>
            </a:r>
            <a:r>
              <a:rPr lang="en-US" err="1">
                <a:latin typeface="Aptos Display"/>
                <a:ea typeface="+mn-lt"/>
                <a:cs typeface="+mn-lt"/>
              </a:rPr>
              <a:t>ofiar</a:t>
            </a:r>
            <a:r>
              <a:rPr lang="en-US">
                <a:latin typeface="Aptos Display"/>
                <a:ea typeface="+mn-lt"/>
                <a:cs typeface="+mn-lt"/>
              </a:rPr>
              <a:t>.</a:t>
            </a:r>
            <a:endParaRPr lang="en-US">
              <a:latin typeface="Aptos Display"/>
            </a:endParaRPr>
          </a:p>
          <a:p>
            <a:r>
              <a:rPr lang="en-US" b="1" err="1">
                <a:latin typeface="Aptos Display"/>
                <a:ea typeface="+mn-lt"/>
                <a:cs typeface="+mn-lt"/>
              </a:rPr>
              <a:t>Przykład</a:t>
            </a:r>
            <a:r>
              <a:rPr lang="en-US" b="1">
                <a:latin typeface="Aptos Display"/>
                <a:ea typeface="+mn-lt"/>
                <a:cs typeface="+mn-lt"/>
              </a:rPr>
              <a:t>: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Komentarze</a:t>
            </a:r>
            <a:r>
              <a:rPr lang="en-US">
                <a:latin typeface="Aptos Display"/>
                <a:ea typeface="+mn-lt"/>
                <a:cs typeface="+mn-lt"/>
              </a:rPr>
              <a:t>, </a:t>
            </a:r>
            <a:r>
              <a:rPr lang="en-US" err="1">
                <a:latin typeface="Aptos Display"/>
                <a:ea typeface="+mn-lt"/>
                <a:cs typeface="+mn-lt"/>
              </a:rPr>
              <a:t>posty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na</a:t>
            </a:r>
            <a:r>
              <a:rPr lang="en-US">
                <a:latin typeface="Aptos Display"/>
                <a:ea typeface="+mn-lt"/>
                <a:cs typeface="+mn-lt"/>
              </a:rPr>
              <a:t> forum, </a:t>
            </a:r>
            <a:r>
              <a:rPr lang="en-US" err="1">
                <a:latin typeface="Aptos Display"/>
                <a:ea typeface="+mn-lt"/>
                <a:cs typeface="+mn-lt"/>
              </a:rPr>
              <a:t>opisy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profili</a:t>
            </a:r>
            <a:r>
              <a:rPr lang="en-US">
                <a:latin typeface="Aptos Display"/>
                <a:ea typeface="+mn-lt"/>
                <a:cs typeface="+mn-lt"/>
              </a:rPr>
              <a:t>.</a:t>
            </a:r>
            <a:endParaRPr lang="en-US">
              <a:latin typeface="Aptos Display"/>
            </a:endParaRPr>
          </a:p>
          <a:p>
            <a:endParaRPr lang="en-US"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4087497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387C9B-48AB-A4A7-D4D9-40FFFB5E4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DOM-based XSS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1B8C17-787C-719D-D52C-0F16ACCE2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67" y="2576847"/>
            <a:ext cx="6281928" cy="376915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1C2DB-BB2B-F9E9-710C-B38E89129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err="1">
                <a:latin typeface="Aptos Display"/>
                <a:ea typeface="+mn-lt"/>
                <a:cs typeface="+mn-lt"/>
              </a:rPr>
              <a:t>Mechanizm</a:t>
            </a:r>
            <a:r>
              <a:rPr lang="en-US" b="1">
                <a:latin typeface="Aptos Display"/>
                <a:ea typeface="+mn-lt"/>
                <a:cs typeface="+mn-lt"/>
              </a:rPr>
              <a:t>:</a:t>
            </a:r>
            <a:r>
              <a:rPr lang="en-US">
                <a:latin typeface="Aptos Display"/>
                <a:ea typeface="+mn-lt"/>
                <a:cs typeface="+mn-lt"/>
              </a:rPr>
              <a:t> Atak </a:t>
            </a:r>
            <a:r>
              <a:rPr lang="en-US" err="1">
                <a:latin typeface="Aptos Display"/>
                <a:ea typeface="+mn-lt"/>
                <a:cs typeface="+mn-lt"/>
              </a:rPr>
              <a:t>odbywa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się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wyłącznie</a:t>
            </a:r>
            <a:r>
              <a:rPr lang="en-US">
                <a:latin typeface="Aptos Display"/>
                <a:ea typeface="+mn-lt"/>
                <a:cs typeface="+mn-lt"/>
              </a:rPr>
              <a:t> w </a:t>
            </a:r>
            <a:r>
              <a:rPr lang="en-US" err="1">
                <a:latin typeface="Aptos Display"/>
                <a:ea typeface="+mn-lt"/>
                <a:cs typeface="+mn-lt"/>
              </a:rPr>
              <a:t>przeglądarce</a:t>
            </a:r>
            <a:r>
              <a:rPr lang="en-US">
                <a:latin typeface="Aptos Display"/>
                <a:ea typeface="+mn-lt"/>
                <a:cs typeface="+mn-lt"/>
              </a:rPr>
              <a:t>.</a:t>
            </a:r>
            <a:endParaRPr lang="en-US" b="1">
              <a:latin typeface="Aptos Display"/>
            </a:endParaRPr>
          </a:p>
          <a:p>
            <a:r>
              <a:rPr lang="en-US">
                <a:latin typeface="Aptos Display"/>
                <a:ea typeface="+mn-lt"/>
                <a:cs typeface="+mn-lt"/>
              </a:rPr>
              <a:t>Serwer </a:t>
            </a:r>
            <a:r>
              <a:rPr lang="en-US" err="1">
                <a:latin typeface="Aptos Display"/>
                <a:ea typeface="+mn-lt"/>
                <a:cs typeface="+mn-lt"/>
              </a:rPr>
              <a:t>nie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widzi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złośliwego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kodu</a:t>
            </a:r>
            <a:r>
              <a:rPr lang="en-US">
                <a:latin typeface="Aptos Display"/>
                <a:ea typeface="+mn-lt"/>
                <a:cs typeface="+mn-lt"/>
              </a:rPr>
              <a:t> w </a:t>
            </a:r>
            <a:r>
              <a:rPr lang="en-US" err="1">
                <a:latin typeface="Aptos Display"/>
                <a:ea typeface="+mn-lt"/>
                <a:cs typeface="+mn-lt"/>
              </a:rPr>
              <a:t>żądaniu</a:t>
            </a:r>
            <a:r>
              <a:rPr lang="en-US">
                <a:latin typeface="Aptos Display"/>
                <a:ea typeface="+mn-lt"/>
                <a:cs typeface="+mn-lt"/>
              </a:rPr>
              <a:t> HTTP.</a:t>
            </a:r>
            <a:endParaRPr lang="en-US">
              <a:latin typeface="Aptos Display"/>
            </a:endParaRPr>
          </a:p>
          <a:p>
            <a:r>
              <a:rPr lang="en-US" err="1">
                <a:latin typeface="Aptos Display"/>
                <a:ea typeface="+mn-lt"/>
                <a:cs typeface="+mn-lt"/>
              </a:rPr>
              <a:t>Wynika</a:t>
            </a:r>
            <a:r>
              <a:rPr lang="en-US">
                <a:latin typeface="Aptos Display"/>
                <a:ea typeface="+mn-lt"/>
                <a:cs typeface="+mn-lt"/>
              </a:rPr>
              <a:t> z </a:t>
            </a:r>
            <a:r>
              <a:rPr lang="en-US" err="1">
                <a:latin typeface="Aptos Display"/>
                <a:ea typeface="+mn-lt"/>
                <a:cs typeface="+mn-lt"/>
              </a:rPr>
              <a:t>niebezpiecznego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użycia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JavaScriptu</a:t>
            </a:r>
            <a:r>
              <a:rPr lang="en-US">
                <a:latin typeface="Aptos Display"/>
                <a:ea typeface="+mn-lt"/>
                <a:cs typeface="+mn-lt"/>
              </a:rPr>
              <a:t> po </a:t>
            </a:r>
            <a:r>
              <a:rPr lang="en-US" err="1">
                <a:latin typeface="Aptos Display"/>
                <a:ea typeface="+mn-lt"/>
                <a:cs typeface="+mn-lt"/>
              </a:rPr>
              <a:t>stronie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klienta</a:t>
            </a:r>
            <a:r>
              <a:rPr lang="en-US">
                <a:latin typeface="Aptos Display"/>
                <a:ea typeface="+mn-lt"/>
                <a:cs typeface="+mn-lt"/>
              </a:rPr>
              <a:t> (Sources &amp; Sinks).</a:t>
            </a:r>
            <a:endParaRPr lang="en-US">
              <a:latin typeface="Aptos Display"/>
            </a:endParaRPr>
          </a:p>
          <a:p>
            <a:r>
              <a:rPr lang="en-US" b="1" err="1">
                <a:latin typeface="Aptos Display"/>
                <a:ea typeface="+mn-lt"/>
                <a:cs typeface="+mn-lt"/>
              </a:rPr>
              <a:t>Źródła</a:t>
            </a:r>
            <a:r>
              <a:rPr lang="en-US" b="1">
                <a:latin typeface="Aptos Display"/>
                <a:ea typeface="+mn-lt"/>
                <a:cs typeface="+mn-lt"/>
              </a:rPr>
              <a:t> (Sources):</a:t>
            </a:r>
            <a:r>
              <a:rPr lang="en-US">
                <a:latin typeface="Aptos Display"/>
                <a:ea typeface="+mn-lt"/>
                <a:cs typeface="+mn-lt"/>
              </a:rPr>
              <a:t> URL, </a:t>
            </a:r>
            <a:r>
              <a:rPr lang="en-US" err="1">
                <a:latin typeface="Aptos Display"/>
              </a:rPr>
              <a:t>location.hash</a:t>
            </a:r>
            <a:r>
              <a:rPr lang="en-US">
                <a:latin typeface="Aptos Display"/>
                <a:ea typeface="+mn-lt"/>
                <a:cs typeface="+mn-lt"/>
              </a:rPr>
              <a:t>, </a:t>
            </a:r>
            <a:r>
              <a:rPr lang="en-US" err="1">
                <a:latin typeface="Aptos Display"/>
              </a:rPr>
              <a:t>document.referrer</a:t>
            </a:r>
            <a:r>
              <a:rPr lang="en-US">
                <a:latin typeface="Aptos Display"/>
                <a:ea typeface="+mn-lt"/>
                <a:cs typeface="+mn-lt"/>
              </a:rPr>
              <a:t>.</a:t>
            </a:r>
            <a:endParaRPr lang="en-US">
              <a:latin typeface="Aptos Display"/>
            </a:endParaRPr>
          </a:p>
          <a:p>
            <a:r>
              <a:rPr lang="en-US" b="1" err="1">
                <a:latin typeface="Aptos Display"/>
                <a:ea typeface="+mn-lt"/>
                <a:cs typeface="+mn-lt"/>
              </a:rPr>
              <a:t>Ujścia</a:t>
            </a:r>
            <a:r>
              <a:rPr lang="en-US" b="1">
                <a:latin typeface="Aptos Display"/>
                <a:ea typeface="+mn-lt"/>
                <a:cs typeface="+mn-lt"/>
              </a:rPr>
              <a:t> (Sinks):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</a:rPr>
              <a:t>innerHTML</a:t>
            </a:r>
            <a:r>
              <a:rPr lang="en-US">
                <a:latin typeface="Aptos Display"/>
                <a:ea typeface="+mn-lt"/>
                <a:cs typeface="+mn-lt"/>
              </a:rPr>
              <a:t>, </a:t>
            </a:r>
            <a:r>
              <a:rPr lang="en-US" err="1">
                <a:latin typeface="Aptos Display"/>
              </a:rPr>
              <a:t>document.write</a:t>
            </a:r>
            <a:r>
              <a:rPr lang="en-US">
                <a:latin typeface="Aptos Display"/>
                <a:ea typeface="+mn-lt"/>
                <a:cs typeface="+mn-lt"/>
              </a:rPr>
              <a:t>.</a:t>
            </a:r>
            <a:endParaRPr lang="en-US">
              <a:latin typeface="Aptos Display"/>
            </a:endParaRPr>
          </a:p>
          <a:p>
            <a:pPr marL="0" indent="0">
              <a:buNone/>
            </a:pPr>
            <a:endParaRPr lang="en-US" b="1"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33323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" name="Rectangle 99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9C0468-0F52-08B9-CBC8-3EB446532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75636" cy="737911"/>
          </a:xfrm>
        </p:spPr>
        <p:txBody>
          <a:bodyPr>
            <a:normAutofit fontScale="90000"/>
          </a:bodyPr>
          <a:lstStyle/>
          <a:p>
            <a:r>
              <a:rPr lang="en-US" err="1">
                <a:latin typeface="Aptos Display"/>
                <a:ea typeface="+mj-lt"/>
                <a:cs typeface="+mj-lt"/>
              </a:rPr>
              <a:t>Skutki</a:t>
            </a:r>
            <a:r>
              <a:rPr lang="en-US">
                <a:latin typeface="Aptos Display"/>
                <a:ea typeface="+mj-lt"/>
                <a:cs typeface="+mj-lt"/>
              </a:rPr>
              <a:t> </a:t>
            </a:r>
            <a:r>
              <a:rPr lang="en-US" err="1">
                <a:latin typeface="Aptos Display"/>
                <a:ea typeface="+mj-lt"/>
                <a:cs typeface="+mj-lt"/>
              </a:rPr>
              <a:t>ataku</a:t>
            </a:r>
            <a:r>
              <a:rPr lang="en-US">
                <a:latin typeface="Aptos Display"/>
                <a:ea typeface="+mj-lt"/>
                <a:cs typeface="+mj-lt"/>
              </a:rPr>
              <a:t> XSS</a:t>
            </a:r>
            <a:endParaRPr lang="en-US">
              <a:latin typeface="Aptos Display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298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1" name="Picture 90" descr="XSS attack black glyph icon. Cross site scripting. Software attack. Client  side code injection. Malware computer damage. Silhouette symbol on white  space. Vector isolated illustration 6843150 Vector Art at Vecteezy">
            <a:extLst>
              <a:ext uri="{FF2B5EF4-FFF2-40B4-BE49-F238E27FC236}">
                <a16:creationId xmlns:a16="http://schemas.microsoft.com/office/drawing/2014/main" id="{9F8BC5DE-105B-6125-B54A-C2FA965133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99" r="15392" b="2"/>
          <a:stretch>
            <a:fillRect/>
          </a:stretch>
        </p:blipFill>
        <p:spPr>
          <a:xfrm>
            <a:off x="8594042" y="1245508"/>
            <a:ext cx="3098580" cy="4372153"/>
          </a:xfrm>
          <a:prstGeom prst="rect">
            <a:avLst/>
          </a:prstGeom>
        </p:spPr>
      </p:pic>
      <p:graphicFrame>
        <p:nvGraphicFramePr>
          <p:cNvPr id="46" name="Content Placeholder 2">
            <a:extLst>
              <a:ext uri="{FF2B5EF4-FFF2-40B4-BE49-F238E27FC236}">
                <a16:creationId xmlns:a16="http://schemas.microsoft.com/office/drawing/2014/main" id="{C0A7D19C-9A4C-5CF7-07DE-A9D7CFE8CB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1136192"/>
              </p:ext>
            </p:extLst>
          </p:nvPr>
        </p:nvGraphicFramePr>
        <p:xfrm>
          <a:off x="521208" y="1828899"/>
          <a:ext cx="7566119" cy="4517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06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8113DE-01E0-BBDC-42B6-6171CE702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>
                <a:latin typeface="Aptos"/>
                <a:ea typeface="+mj-lt"/>
                <a:cs typeface="+mj-lt"/>
              </a:rPr>
              <a:t>Jak </a:t>
            </a:r>
            <a:r>
              <a:rPr lang="en-US" err="1">
                <a:latin typeface="Aptos"/>
                <a:ea typeface="+mj-lt"/>
                <a:cs typeface="+mj-lt"/>
              </a:rPr>
              <a:t>się</a:t>
            </a:r>
            <a:r>
              <a:rPr lang="en-US">
                <a:latin typeface="Aptos"/>
                <a:ea typeface="+mj-lt"/>
                <a:cs typeface="+mj-lt"/>
              </a:rPr>
              <a:t> </a:t>
            </a:r>
            <a:r>
              <a:rPr lang="en-US" err="1">
                <a:latin typeface="Aptos"/>
                <a:ea typeface="+mj-lt"/>
                <a:cs typeface="+mj-lt"/>
              </a:rPr>
              <a:t>bronić</a:t>
            </a:r>
            <a:r>
              <a:rPr lang="en-US">
                <a:latin typeface="Aptos"/>
                <a:ea typeface="+mj-lt"/>
                <a:cs typeface="+mj-lt"/>
              </a:rPr>
              <a:t>?</a:t>
            </a:r>
            <a:endParaRPr lang="en-US">
              <a:latin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C2ED06-E0CC-3C16-B7B9-3B2EFF9807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7869055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8" name="Picture 47" descr="Cyber safety cyber security and privacy concept. Man holding online  protection shield as symbol of defense and secure. Person defending and  protecting data. Vector illustration. 28217410 Vector Art at Vecteezy">
            <a:extLst>
              <a:ext uri="{FF2B5EF4-FFF2-40B4-BE49-F238E27FC236}">
                <a16:creationId xmlns:a16="http://schemas.microsoft.com/office/drawing/2014/main" id="{F9C79D39-23AB-D1EA-43C2-A3BB59510A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583" y="2656416"/>
            <a:ext cx="3947583" cy="320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935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9B3CAF-DC29-DE79-FFCE-A565F3F48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2020824"/>
          </a:xfrm>
        </p:spPr>
        <p:txBody>
          <a:bodyPr>
            <a:normAutofit/>
          </a:bodyPr>
          <a:lstStyle/>
          <a:p>
            <a:r>
              <a:rPr lang="en-US" sz="4000" b="0" err="1">
                <a:latin typeface="Aptos"/>
                <a:ea typeface="+mj-lt"/>
                <a:cs typeface="+mj-lt"/>
              </a:rPr>
              <a:t>Realne</a:t>
            </a:r>
            <a:r>
              <a:rPr lang="en-US" sz="4000" b="0">
                <a:latin typeface="Aptos"/>
                <a:ea typeface="+mj-lt"/>
                <a:cs typeface="+mj-lt"/>
              </a:rPr>
              <a:t> </a:t>
            </a:r>
            <a:r>
              <a:rPr lang="en-US" sz="4000" b="0" err="1">
                <a:latin typeface="Aptos"/>
                <a:ea typeface="+mj-lt"/>
                <a:cs typeface="+mj-lt"/>
              </a:rPr>
              <a:t>incydenty</a:t>
            </a:r>
            <a:r>
              <a:rPr lang="en-US" sz="4000" b="0">
                <a:latin typeface="Aptos"/>
                <a:ea typeface="+mj-lt"/>
                <a:cs typeface="+mj-lt"/>
              </a:rPr>
              <a:t> XSS z </a:t>
            </a:r>
            <a:r>
              <a:rPr lang="en-US" sz="4000" b="0" err="1">
                <a:latin typeface="Aptos"/>
                <a:ea typeface="+mj-lt"/>
                <a:cs typeface="+mj-lt"/>
              </a:rPr>
              <a:t>historii</a:t>
            </a:r>
            <a:r>
              <a:rPr lang="en-US" sz="4000" b="0">
                <a:latin typeface="Aptos"/>
                <a:ea typeface="+mj-lt"/>
                <a:cs typeface="+mj-lt"/>
              </a:rPr>
              <a:t> </a:t>
            </a:r>
            <a:endParaRPr lang="en-US" sz="4000">
              <a:latin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37DE48-7152-F64B-B5A8-9AB5CF3ED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7067" y="611650"/>
            <a:ext cx="6616285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7" name="Picture 6" descr="Over 8,000 website hacking incidents in January-March 2016: Government,  ETTelecom">
            <a:extLst>
              <a:ext uri="{FF2B5EF4-FFF2-40B4-BE49-F238E27FC236}">
                <a16:creationId xmlns:a16="http://schemas.microsoft.com/office/drawing/2014/main" id="{EDBEB4FD-959B-08A2-CAD9-ADBC69649F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7" r="48" b="4"/>
          <a:stretch>
            <a:fillRect/>
          </a:stretch>
        </p:blipFill>
        <p:spPr>
          <a:xfrm>
            <a:off x="517869" y="3263317"/>
            <a:ext cx="4032503" cy="3082687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57EC96B-4EF3-4DB8-C689-ABB9A5E06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632" y="978408"/>
            <a:ext cx="6611112" cy="536752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ea typeface="+mn-lt"/>
                <a:cs typeface="+mn-lt"/>
              </a:rPr>
              <a:t>1. </a:t>
            </a:r>
            <a:r>
              <a:rPr lang="en-US" sz="1300" b="1" err="1">
                <a:ea typeface="+mn-lt"/>
                <a:cs typeface="+mn-lt"/>
              </a:rPr>
              <a:t>MySpace</a:t>
            </a:r>
            <a:r>
              <a:rPr lang="en-US" sz="1300" b="1">
                <a:ea typeface="+mn-lt"/>
                <a:cs typeface="+mn-lt"/>
              </a:rPr>
              <a:t> “Samy Worm” (2005)</a:t>
            </a:r>
            <a:endParaRPr lang="en-US" sz="1300"/>
          </a:p>
          <a:p>
            <a:pPr>
              <a:lnSpc>
                <a:spcPct val="100000"/>
              </a:lnSpc>
            </a:pPr>
            <a:r>
              <a:rPr lang="en-US" sz="1300" err="1">
                <a:ea typeface="+mn-lt"/>
                <a:cs typeface="+mn-lt"/>
              </a:rPr>
              <a:t>jeden</a:t>
            </a:r>
            <a:r>
              <a:rPr lang="en-US" sz="1300">
                <a:ea typeface="+mn-lt"/>
                <a:cs typeface="+mn-lt"/>
              </a:rPr>
              <a:t> z </a:t>
            </a:r>
            <a:r>
              <a:rPr lang="en-US" sz="1300" err="1">
                <a:ea typeface="+mn-lt"/>
                <a:cs typeface="+mn-lt"/>
              </a:rPr>
              <a:t>najsłynniejszych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ataków</a:t>
            </a:r>
            <a:r>
              <a:rPr lang="en-US" sz="1300">
                <a:ea typeface="+mn-lt"/>
                <a:cs typeface="+mn-lt"/>
              </a:rPr>
              <a:t> XSS</a:t>
            </a:r>
            <a:endParaRPr lang="en-US" sz="1300"/>
          </a:p>
          <a:p>
            <a:pPr>
              <a:lnSpc>
                <a:spcPct val="100000"/>
              </a:lnSpc>
            </a:pPr>
            <a:r>
              <a:rPr lang="en-US" sz="1300" err="1">
                <a:ea typeface="+mn-lt"/>
                <a:cs typeface="+mn-lt"/>
              </a:rPr>
              <a:t>robak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rozprzestrzeniał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się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przez</a:t>
            </a:r>
            <a:r>
              <a:rPr lang="en-US" sz="1300">
                <a:ea typeface="+mn-lt"/>
                <a:cs typeface="+mn-lt"/>
              </a:rPr>
              <a:t> profile </a:t>
            </a:r>
            <a:r>
              <a:rPr lang="en-US" sz="1300" err="1">
                <a:ea typeface="+mn-lt"/>
                <a:cs typeface="+mn-lt"/>
              </a:rPr>
              <a:t>użytkowników</a:t>
            </a:r>
            <a:endParaRPr lang="en-US" sz="1300" err="1"/>
          </a:p>
          <a:p>
            <a:pPr>
              <a:lnSpc>
                <a:spcPct val="100000"/>
              </a:lnSpc>
            </a:pPr>
            <a:r>
              <a:rPr lang="en-US" sz="1300">
                <a:ea typeface="+mn-lt"/>
                <a:cs typeface="+mn-lt"/>
              </a:rPr>
              <a:t>1 </a:t>
            </a:r>
            <a:r>
              <a:rPr lang="en-US" sz="1300" err="1">
                <a:ea typeface="+mn-lt"/>
                <a:cs typeface="+mn-lt"/>
              </a:rPr>
              <a:t>milion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zainfekowanych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kont</a:t>
            </a:r>
            <a:r>
              <a:rPr lang="en-US" sz="1300">
                <a:ea typeface="+mn-lt"/>
                <a:cs typeface="+mn-lt"/>
              </a:rPr>
              <a:t> w 20 </a:t>
            </a:r>
            <a:r>
              <a:rPr lang="en-US" sz="1300" err="1">
                <a:ea typeface="+mn-lt"/>
                <a:cs typeface="+mn-lt"/>
              </a:rPr>
              <a:t>godzin</a:t>
            </a:r>
            <a:endParaRPr lang="en-US" sz="1300" err="1"/>
          </a:p>
          <a:p>
            <a:pPr>
              <a:lnSpc>
                <a:spcPct val="100000"/>
              </a:lnSpc>
            </a:pPr>
            <a:r>
              <a:rPr lang="en-US" sz="1300" err="1">
                <a:ea typeface="+mn-lt"/>
                <a:cs typeface="+mn-lt"/>
              </a:rPr>
              <a:t>atak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trwał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kilka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godzin</a:t>
            </a:r>
            <a:r>
              <a:rPr lang="en-US" sz="1300">
                <a:ea typeface="+mn-lt"/>
                <a:cs typeface="+mn-lt"/>
              </a:rPr>
              <a:t>, ale </a:t>
            </a:r>
            <a:r>
              <a:rPr lang="en-US" sz="1300" err="1">
                <a:ea typeface="+mn-lt"/>
                <a:cs typeface="+mn-lt"/>
              </a:rPr>
              <a:t>MySpace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było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sparaliżowane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przez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i="1" err="1">
                <a:ea typeface="+mn-lt"/>
                <a:cs typeface="+mn-lt"/>
              </a:rPr>
              <a:t>dni</a:t>
            </a:r>
            <a:br>
              <a:rPr lang="en-US" sz="1300"/>
            </a:br>
            <a:endParaRPr lang="en-US" sz="1300" err="1"/>
          </a:p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ea typeface="+mn-lt"/>
                <a:cs typeface="+mn-lt"/>
              </a:rPr>
              <a:t>2. eBay XSS (</a:t>
            </a:r>
            <a:r>
              <a:rPr lang="en-US" sz="1300" b="1" err="1">
                <a:ea typeface="+mn-lt"/>
                <a:cs typeface="+mn-lt"/>
              </a:rPr>
              <a:t>wielokrotnie</a:t>
            </a:r>
            <a:r>
              <a:rPr lang="en-US" sz="1300" b="1">
                <a:ea typeface="+mn-lt"/>
                <a:cs typeface="+mn-lt"/>
              </a:rPr>
              <a:t>, 2014–2019)</a:t>
            </a:r>
            <a:endParaRPr lang="en-US" sz="1300"/>
          </a:p>
          <a:p>
            <a:pPr>
              <a:lnSpc>
                <a:spcPct val="100000"/>
              </a:lnSpc>
            </a:pPr>
            <a:r>
              <a:rPr lang="en-US" sz="1300" err="1">
                <a:ea typeface="+mn-lt"/>
                <a:cs typeface="+mn-lt"/>
              </a:rPr>
              <a:t>podatności</a:t>
            </a:r>
            <a:r>
              <a:rPr lang="en-US" sz="1300">
                <a:ea typeface="+mn-lt"/>
                <a:cs typeface="+mn-lt"/>
              </a:rPr>
              <a:t> w </a:t>
            </a:r>
            <a:r>
              <a:rPr lang="en-US" sz="1300" err="1">
                <a:ea typeface="+mn-lt"/>
                <a:cs typeface="+mn-lt"/>
              </a:rPr>
              <a:t>aukcjach</a:t>
            </a:r>
            <a:endParaRPr lang="en-US" sz="1300" err="1"/>
          </a:p>
          <a:p>
            <a:pPr>
              <a:lnSpc>
                <a:spcPct val="100000"/>
              </a:lnSpc>
            </a:pPr>
            <a:r>
              <a:rPr lang="en-US" sz="1300" err="1">
                <a:ea typeface="+mn-lt"/>
                <a:cs typeface="+mn-lt"/>
              </a:rPr>
              <a:t>atakujący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zamieszczali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złośliwe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skrypty</a:t>
            </a:r>
            <a:r>
              <a:rPr lang="en-US" sz="1300">
                <a:ea typeface="+mn-lt"/>
                <a:cs typeface="+mn-lt"/>
              </a:rPr>
              <a:t> w </a:t>
            </a:r>
            <a:r>
              <a:rPr lang="en-US" sz="1300" err="1">
                <a:ea typeface="+mn-lt"/>
                <a:cs typeface="+mn-lt"/>
              </a:rPr>
              <a:t>opisach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przedmiotów</a:t>
            </a:r>
            <a:endParaRPr lang="en-US" sz="1300" err="1"/>
          </a:p>
          <a:p>
            <a:pPr>
              <a:lnSpc>
                <a:spcPct val="100000"/>
              </a:lnSpc>
            </a:pPr>
            <a:r>
              <a:rPr lang="en-US" sz="1300" err="1">
                <a:ea typeface="+mn-lt"/>
                <a:cs typeface="+mn-lt"/>
              </a:rPr>
              <a:t>wykorzystywano</a:t>
            </a:r>
            <a:r>
              <a:rPr lang="en-US" sz="1300">
                <a:ea typeface="+mn-lt"/>
                <a:cs typeface="+mn-lt"/>
              </a:rPr>
              <a:t> do </a:t>
            </a:r>
            <a:r>
              <a:rPr lang="en-US" sz="1300" err="1">
                <a:ea typeface="+mn-lt"/>
                <a:cs typeface="+mn-lt"/>
              </a:rPr>
              <a:t>phishingu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i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wykradania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danych</a:t>
            </a:r>
            <a:endParaRPr lang="en-US" sz="1300" err="1"/>
          </a:p>
          <a:p>
            <a:pPr>
              <a:lnSpc>
                <a:spcPct val="100000"/>
              </a:lnSpc>
            </a:pPr>
            <a:r>
              <a:rPr lang="en-US" sz="1300">
                <a:ea typeface="+mn-lt"/>
                <a:cs typeface="+mn-lt"/>
              </a:rPr>
              <a:t>problem </a:t>
            </a:r>
            <a:r>
              <a:rPr lang="en-US" sz="1300" err="1">
                <a:ea typeface="+mn-lt"/>
                <a:cs typeface="+mn-lt"/>
              </a:rPr>
              <a:t>powracał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mimo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wielokrotnych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poprawek</a:t>
            </a:r>
            <a:br>
              <a:rPr lang="en-US" sz="1300"/>
            </a:br>
            <a:endParaRPr lang="en-US" sz="1300" err="1"/>
          </a:p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ea typeface="+mn-lt"/>
                <a:cs typeface="+mn-lt"/>
              </a:rPr>
              <a:t>3. PayPal XSS (2006, 2013, 2019)</a:t>
            </a:r>
            <a:endParaRPr lang="en-US" sz="1300"/>
          </a:p>
          <a:p>
            <a:pPr>
              <a:lnSpc>
                <a:spcPct val="100000"/>
              </a:lnSpc>
            </a:pPr>
            <a:r>
              <a:rPr lang="en-US" sz="1300" err="1">
                <a:ea typeface="+mn-lt"/>
                <a:cs typeface="+mn-lt"/>
              </a:rPr>
              <a:t>błędy</a:t>
            </a:r>
            <a:r>
              <a:rPr lang="en-US" sz="1300">
                <a:ea typeface="+mn-lt"/>
                <a:cs typeface="+mn-lt"/>
              </a:rPr>
              <a:t> w </a:t>
            </a:r>
            <a:r>
              <a:rPr lang="en-US" sz="1300" err="1">
                <a:ea typeface="+mn-lt"/>
                <a:cs typeface="+mn-lt"/>
              </a:rPr>
              <a:t>formularzach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logowania</a:t>
            </a:r>
            <a:endParaRPr lang="en-US" sz="1300" err="1"/>
          </a:p>
          <a:p>
            <a:pPr>
              <a:lnSpc>
                <a:spcPct val="100000"/>
              </a:lnSpc>
            </a:pPr>
            <a:r>
              <a:rPr lang="en-US" sz="1300" err="1">
                <a:ea typeface="+mn-lt"/>
                <a:cs typeface="+mn-lt"/>
              </a:rPr>
              <a:t>badacze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demonstrowali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możliwość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wyświetlenia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fałszywego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formularza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logowania</a:t>
            </a:r>
            <a:endParaRPr lang="en-US" sz="1300" err="1"/>
          </a:p>
          <a:p>
            <a:pPr>
              <a:lnSpc>
                <a:spcPct val="100000"/>
              </a:lnSpc>
            </a:pPr>
            <a:r>
              <a:rPr lang="en-US" sz="1300" err="1">
                <a:ea typeface="+mn-lt"/>
                <a:cs typeface="+mn-lt"/>
              </a:rPr>
              <a:t>potencjalne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przejęcie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ogromnej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liczby</a:t>
            </a:r>
            <a:r>
              <a:rPr lang="en-US" sz="1300">
                <a:ea typeface="+mn-lt"/>
                <a:cs typeface="+mn-lt"/>
              </a:rPr>
              <a:t> </a:t>
            </a:r>
            <a:r>
              <a:rPr lang="en-US" sz="1300" err="1">
                <a:ea typeface="+mn-lt"/>
                <a:cs typeface="+mn-lt"/>
              </a:rPr>
              <a:t>kont</a:t>
            </a:r>
            <a:endParaRPr lang="en-US" sz="1300" err="1"/>
          </a:p>
          <a:p>
            <a:pPr>
              <a:lnSpc>
                <a:spcPct val="100000"/>
              </a:lnSpc>
            </a:pP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220787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3" name="Rectangle 242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289017-0412-1537-89D7-4B284A52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2020824"/>
          </a:xfrm>
        </p:spPr>
        <p:txBody>
          <a:bodyPr>
            <a:normAutofit/>
          </a:bodyPr>
          <a:lstStyle/>
          <a:p>
            <a:r>
              <a:rPr lang="en-US" sz="4000" b="0">
                <a:latin typeface="Aptos"/>
                <a:ea typeface="+mj-lt"/>
                <a:cs typeface="+mj-lt"/>
              </a:rPr>
              <a:t>Podsumowanie: Najważniejsze lekcje o XSS</a:t>
            </a:r>
            <a:endParaRPr lang="en-US" sz="4000">
              <a:latin typeface="Aptos"/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0737DE48-7152-F64B-B5A8-9AB5CF3ED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7067" y="611650"/>
            <a:ext cx="6616285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What is Cross-site Scripting (XSS) and how can you fix it? - Blog Detectify">
            <a:extLst>
              <a:ext uri="{FF2B5EF4-FFF2-40B4-BE49-F238E27FC236}">
                <a16:creationId xmlns:a16="http://schemas.microsoft.com/office/drawing/2014/main" id="{B90D6E02-5690-8BFA-E197-D8E1A58276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375" r="5870" b="2"/>
          <a:stretch>
            <a:fillRect/>
          </a:stretch>
        </p:blipFill>
        <p:spPr>
          <a:xfrm>
            <a:off x="517869" y="3263317"/>
            <a:ext cx="4032503" cy="3082687"/>
          </a:xfrm>
          <a:prstGeom prst="rect">
            <a:avLst/>
          </a:prstGeom>
        </p:spPr>
      </p:pic>
      <p:sp>
        <p:nvSpPr>
          <p:cNvPr id="238" name="Content Placeholder 237">
            <a:extLst>
              <a:ext uri="{FF2B5EF4-FFF2-40B4-BE49-F238E27FC236}">
                <a16:creationId xmlns:a16="http://schemas.microsoft.com/office/drawing/2014/main" id="{A83D234C-1F59-1A06-4618-99B7B1FC1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632" y="978408"/>
            <a:ext cx="6611112" cy="536752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buNone/>
            </a:pPr>
            <a:r>
              <a:rPr lang="en-US" b="1"/>
              <a:t>1. XSS to </a:t>
            </a:r>
            <a:r>
              <a:rPr lang="en-US" b="1" err="1"/>
              <a:t>jedna</a:t>
            </a:r>
            <a:r>
              <a:rPr lang="en-US" b="1"/>
              <a:t> z </a:t>
            </a:r>
            <a:r>
              <a:rPr lang="en-US" b="1" err="1"/>
              <a:t>najpowszechniejszych</a:t>
            </a:r>
            <a:r>
              <a:rPr lang="en-US" b="1"/>
              <a:t> </a:t>
            </a:r>
            <a:r>
              <a:rPr lang="en-US" b="1" err="1"/>
              <a:t>podatności</a:t>
            </a:r>
            <a:r>
              <a:rPr lang="en-US" b="1"/>
              <a:t> </a:t>
            </a:r>
            <a:r>
              <a:rPr lang="en-US" b="1" err="1"/>
              <a:t>webowych</a:t>
            </a:r>
            <a:endParaRPr lang="en-US" err="1"/>
          </a:p>
          <a:p>
            <a:pPr>
              <a:buNone/>
            </a:pPr>
            <a:r>
              <a:rPr lang="en-US" err="1">
                <a:ea typeface="+mn-lt"/>
                <a:cs typeface="+mn-lt"/>
              </a:rPr>
              <a:t>Występuje</a:t>
            </a:r>
            <a:r>
              <a:rPr lang="en-US">
                <a:ea typeface="+mn-lt"/>
                <a:cs typeface="+mn-lt"/>
              </a:rPr>
              <a:t> w </a:t>
            </a:r>
            <a:r>
              <a:rPr lang="en-US" err="1">
                <a:ea typeface="+mn-lt"/>
                <a:cs typeface="+mn-lt"/>
              </a:rPr>
              <a:t>formularzach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komentarzach</a:t>
            </a:r>
            <a:r>
              <a:rPr lang="en-US">
                <a:ea typeface="+mn-lt"/>
                <a:cs typeface="+mn-lt"/>
              </a:rPr>
              <a:t>, URL-ach, </a:t>
            </a:r>
            <a:r>
              <a:rPr lang="en-US" err="1">
                <a:ea typeface="+mn-lt"/>
                <a:cs typeface="+mn-lt"/>
              </a:rPr>
              <a:t>interfejsach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admina</a:t>
            </a:r>
            <a:r>
              <a:rPr lang="en-US">
                <a:ea typeface="+mn-lt"/>
                <a:cs typeface="+mn-lt"/>
              </a:rPr>
              <a:t>, a </a:t>
            </a:r>
            <a:r>
              <a:rPr lang="en-US" err="1">
                <a:ea typeface="+mn-lt"/>
                <a:cs typeface="+mn-lt"/>
              </a:rPr>
              <a:t>nawet</a:t>
            </a:r>
            <a:r>
              <a:rPr lang="en-US">
                <a:ea typeface="+mn-lt"/>
                <a:cs typeface="+mn-lt"/>
              </a:rPr>
              <a:t> w </a:t>
            </a:r>
            <a:r>
              <a:rPr lang="en-US" err="1">
                <a:ea typeface="+mn-lt"/>
                <a:cs typeface="+mn-lt"/>
              </a:rPr>
              <a:t>profilach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użytkowników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>
              <a:buNone/>
            </a:pPr>
            <a:r>
              <a:rPr lang="en-US" b="1"/>
              <a:t>2. </a:t>
            </a:r>
            <a:r>
              <a:rPr lang="en-US" b="1" err="1"/>
              <a:t>Mechanizm</a:t>
            </a:r>
            <a:r>
              <a:rPr lang="en-US" b="1"/>
              <a:t> jest </a:t>
            </a:r>
            <a:r>
              <a:rPr lang="en-US" b="1" err="1"/>
              <a:t>prosty</a:t>
            </a:r>
            <a:r>
              <a:rPr lang="en-US" b="1"/>
              <a:t> — </a:t>
            </a:r>
            <a:r>
              <a:rPr lang="en-US" b="1" err="1"/>
              <a:t>konsekwencje</a:t>
            </a:r>
            <a:r>
              <a:rPr lang="en-US" b="1"/>
              <a:t> </a:t>
            </a:r>
            <a:r>
              <a:rPr lang="en-US" b="1" err="1"/>
              <a:t>katastrofalne</a:t>
            </a:r>
            <a:endParaRPr lang="en-US" err="1"/>
          </a:p>
          <a:p>
            <a:pPr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przejęcie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kont</a:t>
            </a:r>
            <a:endParaRPr lang="en-US" err="1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phishing</a:t>
            </a:r>
            <a:endParaRPr lang="en-US"/>
          </a:p>
          <a:p>
            <a:pPr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manipulacja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interfejsem</a:t>
            </a:r>
            <a:endParaRPr lang="en-US" err="1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keylogging</a:t>
            </a:r>
            <a:endParaRPr lang="en-US"/>
          </a:p>
          <a:p>
            <a:pPr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działania</a:t>
            </a:r>
            <a:r>
              <a:rPr lang="en-US">
                <a:ea typeface="+mn-lt"/>
                <a:cs typeface="+mn-lt"/>
              </a:rPr>
              <a:t> w </a:t>
            </a:r>
            <a:r>
              <a:rPr lang="en-US" err="1">
                <a:ea typeface="+mn-lt"/>
                <a:cs typeface="+mn-lt"/>
              </a:rPr>
              <a:t>imieniu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użytkownika</a:t>
            </a: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3</a:t>
            </a:r>
            <a:r>
              <a:rPr lang="en-US" b="1"/>
              <a:t>. </a:t>
            </a:r>
            <a:r>
              <a:rPr lang="en-US" b="1" err="1"/>
              <a:t>Podstawą</a:t>
            </a:r>
            <a:r>
              <a:rPr lang="en-US" b="1"/>
              <a:t> </a:t>
            </a:r>
            <a:r>
              <a:rPr lang="en-US" b="1" err="1"/>
              <a:t>obrony</a:t>
            </a:r>
            <a:r>
              <a:rPr lang="en-US" b="1"/>
              <a:t> jest </a:t>
            </a:r>
            <a:r>
              <a:rPr lang="en-US" b="1" err="1"/>
              <a:t>zasada</a:t>
            </a:r>
            <a:r>
              <a:rPr lang="en-US" b="1"/>
              <a:t> „</a:t>
            </a:r>
            <a:r>
              <a:rPr lang="en-US" b="1" err="1"/>
              <a:t>kodowania</a:t>
            </a:r>
            <a:r>
              <a:rPr lang="en-US" b="1"/>
              <a:t> </a:t>
            </a:r>
            <a:r>
              <a:rPr lang="en-US" b="1" err="1"/>
              <a:t>na</a:t>
            </a:r>
            <a:r>
              <a:rPr lang="en-US" b="1"/>
              <a:t> </a:t>
            </a:r>
            <a:r>
              <a:rPr lang="en-US" b="1" err="1"/>
              <a:t>wyjściu</a:t>
            </a:r>
            <a:r>
              <a:rPr lang="en-US" b="1"/>
              <a:t>”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 Najważniejsza </a:t>
            </a:r>
            <a:r>
              <a:rPr lang="en-US" err="1">
                <a:ea typeface="+mn-lt"/>
                <a:cs typeface="+mn-lt"/>
              </a:rPr>
              <a:t>praktyka</a:t>
            </a:r>
            <a:r>
              <a:rPr lang="en-US">
                <a:ea typeface="+mn-lt"/>
                <a:cs typeface="+mn-lt"/>
              </a:rPr>
              <a:t>: </a:t>
            </a:r>
            <a:r>
              <a:rPr lang="en-US" b="1">
                <a:ea typeface="+mn-lt"/>
                <a:cs typeface="+mn-lt"/>
              </a:rPr>
              <a:t>Output Encoding </a:t>
            </a:r>
            <a:r>
              <a:rPr lang="en-US" b="1" err="1">
                <a:ea typeface="+mn-lt"/>
                <a:cs typeface="+mn-lt"/>
              </a:rPr>
              <a:t>dopasowany</a:t>
            </a:r>
            <a:r>
              <a:rPr lang="en-US" b="1">
                <a:ea typeface="+mn-lt"/>
                <a:cs typeface="+mn-lt"/>
              </a:rPr>
              <a:t> do </a:t>
            </a:r>
            <a:r>
              <a:rPr lang="en-US" b="1" err="1">
                <a:ea typeface="+mn-lt"/>
                <a:cs typeface="+mn-lt"/>
              </a:rPr>
              <a:t>kontekstu</a:t>
            </a:r>
            <a:r>
              <a:rPr lang="en-US" b="1">
                <a:ea typeface="+mn-lt"/>
                <a:cs typeface="+mn-lt"/>
              </a:rPr>
              <a:t>.</a:t>
            </a:r>
            <a:endParaRPr lang="en-US"/>
          </a:p>
          <a:p>
            <a:pPr>
              <a:buNone/>
            </a:pPr>
            <a:r>
              <a:rPr lang="en-US" b="1"/>
              <a:t>4. </a:t>
            </a:r>
            <a:r>
              <a:rPr lang="en-US" b="1" err="1"/>
              <a:t>Walidacja</a:t>
            </a:r>
            <a:r>
              <a:rPr lang="en-US" b="1"/>
              <a:t> + CSP to </a:t>
            </a:r>
            <a:r>
              <a:rPr lang="en-US" b="1" err="1"/>
              <a:t>dodatkowe</a:t>
            </a:r>
            <a:r>
              <a:rPr lang="en-US" b="1"/>
              <a:t> </a:t>
            </a:r>
            <a:r>
              <a:rPr lang="en-US" b="1" err="1"/>
              <a:t>warstwy</a:t>
            </a:r>
            <a:r>
              <a:rPr lang="en-US" b="1"/>
              <a:t> </a:t>
            </a:r>
            <a:r>
              <a:rPr lang="en-US" b="1" err="1"/>
              <a:t>ochrony</a:t>
            </a:r>
            <a:endParaRPr lang="en-US" err="1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 Nigdy </a:t>
            </a:r>
            <a:r>
              <a:rPr lang="en-US" err="1">
                <a:ea typeface="+mn-lt"/>
                <a:cs typeface="+mn-lt"/>
              </a:rPr>
              <a:t>nie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polegaj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jednym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zabezpieczeniu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>
              <a:buNone/>
            </a:pPr>
            <a:r>
              <a:rPr lang="en-US" b="1"/>
              <a:t>5. XSS </a:t>
            </a:r>
            <a:r>
              <a:rPr lang="en-US" b="1" err="1"/>
              <a:t>można</a:t>
            </a:r>
            <a:r>
              <a:rPr lang="en-US" b="1"/>
              <a:t> </a:t>
            </a:r>
            <a:r>
              <a:rPr lang="en-US" b="1" err="1"/>
              <a:t>wykrywać</a:t>
            </a:r>
            <a:r>
              <a:rPr lang="en-US" b="1"/>
              <a:t> </a:t>
            </a:r>
            <a:r>
              <a:rPr lang="en-US" b="1" err="1"/>
              <a:t>i</a:t>
            </a:r>
            <a:r>
              <a:rPr lang="en-US" b="1"/>
              <a:t> </a:t>
            </a:r>
            <a:r>
              <a:rPr lang="en-US" b="1" err="1"/>
              <a:t>analizować</a:t>
            </a:r>
            <a:r>
              <a:rPr lang="en-US" b="1"/>
              <a:t> </a:t>
            </a:r>
            <a:r>
              <a:rPr lang="en-US" b="1" err="1"/>
              <a:t>dzięki</a:t>
            </a:r>
            <a:r>
              <a:rPr lang="en-US" b="1"/>
              <a:t> </a:t>
            </a:r>
            <a:r>
              <a:rPr lang="en-US" b="1" err="1"/>
              <a:t>narzędziom</a:t>
            </a:r>
            <a:r>
              <a:rPr lang="en-US" b="1"/>
              <a:t> </a:t>
            </a:r>
            <a:r>
              <a:rPr lang="en-US" b="1" err="1"/>
              <a:t>edukacyjnym</a:t>
            </a:r>
            <a:endParaRPr lang="en-US" err="1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 OWASP Juice Shop to </a:t>
            </a:r>
            <a:r>
              <a:rPr lang="en-US" err="1">
                <a:ea typeface="+mn-lt"/>
                <a:cs typeface="+mn-lt"/>
              </a:rPr>
              <a:t>najlepsze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środowisko</a:t>
            </a:r>
            <a:r>
              <a:rPr lang="en-US">
                <a:ea typeface="+mn-lt"/>
                <a:cs typeface="+mn-lt"/>
              </a:rPr>
              <a:t> do </a:t>
            </a:r>
            <a:r>
              <a:rPr lang="en-US" err="1">
                <a:ea typeface="+mn-lt"/>
                <a:cs typeface="+mn-lt"/>
              </a:rPr>
              <a:t>nauki</a:t>
            </a:r>
            <a:r>
              <a:rPr lang="en-US">
                <a:ea typeface="+mn-lt"/>
                <a:cs typeface="+mn-lt"/>
              </a:rPr>
              <a:t> — </a:t>
            </a:r>
            <a:r>
              <a:rPr lang="en-US" err="1">
                <a:ea typeface="+mn-lt"/>
                <a:cs typeface="+mn-lt"/>
              </a:rPr>
              <a:t>bezpieczne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realistyczne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bogate</a:t>
            </a:r>
            <a:r>
              <a:rPr lang="en-US">
                <a:ea typeface="+mn-lt"/>
                <a:cs typeface="+mn-lt"/>
              </a:rPr>
              <a:t> w </a:t>
            </a:r>
            <a:r>
              <a:rPr lang="en-US" err="1">
                <a:ea typeface="+mn-lt"/>
                <a:cs typeface="+mn-lt"/>
              </a:rPr>
              <a:t>przykłady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błędów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2798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B8EE7F-B871-A45B-E879-F80D85C46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81928" cy="1463040"/>
          </a:xfrm>
        </p:spPr>
        <p:txBody>
          <a:bodyPr>
            <a:normAutofit/>
          </a:bodyPr>
          <a:lstStyle/>
          <a:p>
            <a:r>
              <a:rPr lang="en-US" b="0" err="1">
                <a:latin typeface="Aptos"/>
                <a:ea typeface="+mj-lt"/>
                <a:cs typeface="+mj-lt"/>
              </a:rPr>
              <a:t>Wprowadzenie</a:t>
            </a:r>
            <a:r>
              <a:rPr lang="en-US" b="0">
                <a:latin typeface="Aptos"/>
                <a:ea typeface="+mj-lt"/>
                <a:cs typeface="+mj-lt"/>
              </a:rPr>
              <a:t> do OWASP Juice Shop</a:t>
            </a:r>
            <a:endParaRPr lang="en-US">
              <a:latin typeface="Apto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86BED-8A61-17E6-EA4E-E8546D25A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81928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latin typeface="Aptos Display"/>
                <a:ea typeface="+mn-lt"/>
                <a:cs typeface="+mn-lt"/>
              </a:rPr>
              <a:t>Co to jest: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Celowo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dziurawa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aplikacja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sklepu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internetowego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stworzona</a:t>
            </a:r>
            <a:r>
              <a:rPr lang="en-US">
                <a:latin typeface="Aptos Display"/>
                <a:ea typeface="+mn-lt"/>
                <a:cs typeface="+mn-lt"/>
              </a:rPr>
              <a:t> do </a:t>
            </a:r>
            <a:r>
              <a:rPr lang="en-US" err="1">
                <a:latin typeface="Aptos Display"/>
                <a:ea typeface="+mn-lt"/>
                <a:cs typeface="+mn-lt"/>
              </a:rPr>
              <a:t>nauki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bezpieczeństwa</a:t>
            </a:r>
            <a:r>
              <a:rPr lang="en-US">
                <a:latin typeface="Aptos Display"/>
                <a:ea typeface="+mn-lt"/>
                <a:cs typeface="+mn-lt"/>
              </a:rPr>
              <a:t>.</a:t>
            </a:r>
            <a:endParaRPr lang="en-US">
              <a:latin typeface="Aptos Display"/>
            </a:endParaRPr>
          </a:p>
          <a:p>
            <a:r>
              <a:rPr lang="en-US" b="1" err="1">
                <a:latin typeface="Aptos Display"/>
                <a:ea typeface="+mn-lt"/>
                <a:cs typeface="+mn-lt"/>
              </a:rPr>
              <a:t>Zasady</a:t>
            </a:r>
            <a:r>
              <a:rPr lang="en-US" b="1">
                <a:latin typeface="Aptos Display"/>
                <a:ea typeface="+mn-lt"/>
                <a:cs typeface="+mn-lt"/>
              </a:rPr>
              <a:t> </a:t>
            </a:r>
            <a:r>
              <a:rPr lang="en-US" b="1" err="1">
                <a:latin typeface="Aptos Display"/>
                <a:ea typeface="+mn-lt"/>
                <a:cs typeface="+mn-lt"/>
              </a:rPr>
              <a:t>dzisiejszych</a:t>
            </a:r>
            <a:r>
              <a:rPr lang="en-US" b="1">
                <a:latin typeface="Aptos Display"/>
                <a:ea typeface="+mn-lt"/>
                <a:cs typeface="+mn-lt"/>
              </a:rPr>
              <a:t> </a:t>
            </a:r>
            <a:r>
              <a:rPr lang="en-US" b="1" err="1">
                <a:latin typeface="Aptos Display"/>
                <a:ea typeface="+mn-lt"/>
                <a:cs typeface="+mn-lt"/>
              </a:rPr>
              <a:t>ćwiczeń</a:t>
            </a:r>
            <a:r>
              <a:rPr lang="en-US" b="1">
                <a:latin typeface="Aptos Display"/>
                <a:ea typeface="+mn-lt"/>
                <a:cs typeface="+mn-lt"/>
              </a:rPr>
              <a:t>: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Szukamy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pól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formularzy</a:t>
            </a:r>
            <a:r>
              <a:rPr lang="en-US">
                <a:latin typeface="Aptos Display"/>
                <a:ea typeface="+mn-lt"/>
                <a:cs typeface="+mn-lt"/>
              </a:rPr>
              <a:t>, </a:t>
            </a:r>
            <a:r>
              <a:rPr lang="en-US" err="1">
                <a:latin typeface="Aptos Display"/>
                <a:ea typeface="+mn-lt"/>
                <a:cs typeface="+mn-lt"/>
              </a:rPr>
              <a:t>parametrów</a:t>
            </a:r>
            <a:r>
              <a:rPr lang="en-US">
                <a:latin typeface="Aptos Display"/>
                <a:ea typeface="+mn-lt"/>
                <a:cs typeface="+mn-lt"/>
              </a:rPr>
              <a:t> URL </a:t>
            </a:r>
            <a:r>
              <a:rPr lang="en-US" err="1">
                <a:latin typeface="Aptos Display"/>
                <a:ea typeface="+mn-lt"/>
                <a:cs typeface="+mn-lt"/>
              </a:rPr>
              <a:t>i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miejsc</a:t>
            </a:r>
            <a:r>
              <a:rPr lang="en-US">
                <a:latin typeface="Aptos Display"/>
                <a:ea typeface="+mn-lt"/>
                <a:cs typeface="+mn-lt"/>
              </a:rPr>
              <a:t>, </a:t>
            </a:r>
            <a:r>
              <a:rPr lang="en-US" err="1">
                <a:latin typeface="Aptos Display"/>
                <a:ea typeface="+mn-lt"/>
                <a:cs typeface="+mn-lt"/>
              </a:rPr>
              <a:t>gdzie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nasz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tekst</a:t>
            </a:r>
            <a:r>
              <a:rPr lang="en-US">
                <a:latin typeface="Aptos Display"/>
                <a:ea typeface="+mn-lt"/>
                <a:cs typeface="+mn-lt"/>
              </a:rPr>
              <a:t> jest </a:t>
            </a:r>
            <a:r>
              <a:rPr lang="en-US" err="1">
                <a:latin typeface="Aptos Display"/>
                <a:ea typeface="+mn-lt"/>
                <a:cs typeface="+mn-lt"/>
              </a:rPr>
              <a:t>wyświetlany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na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ekranie</a:t>
            </a:r>
            <a:r>
              <a:rPr lang="en-US">
                <a:latin typeface="Aptos Display"/>
                <a:ea typeface="+mn-lt"/>
                <a:cs typeface="+mn-lt"/>
              </a:rPr>
              <a:t>.</a:t>
            </a:r>
            <a:endParaRPr lang="en-US">
              <a:latin typeface="Aptos Display"/>
            </a:endParaRPr>
          </a:p>
          <a:p>
            <a:r>
              <a:rPr lang="en-US" b="1">
                <a:latin typeface="Aptos Display"/>
                <a:ea typeface="+mn-lt"/>
                <a:cs typeface="+mn-lt"/>
              </a:rPr>
              <a:t>Cel: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Wyświetlić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słynne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 err="1">
                <a:latin typeface="Aptos Display"/>
                <a:ea typeface="+mn-lt"/>
                <a:cs typeface="+mn-lt"/>
              </a:rPr>
              <a:t>okienko</a:t>
            </a:r>
            <a:r>
              <a:rPr lang="en-US">
                <a:latin typeface="Aptos Display"/>
                <a:ea typeface="+mn-lt"/>
                <a:cs typeface="+mn-lt"/>
              </a:rPr>
              <a:t> </a:t>
            </a:r>
            <a:r>
              <a:rPr lang="en-US">
                <a:latin typeface="Aptos Display"/>
              </a:rPr>
              <a:t>alert()</a:t>
            </a:r>
            <a:r>
              <a:rPr lang="en-US">
                <a:latin typeface="Aptos Display"/>
                <a:ea typeface="+mn-lt"/>
                <a:cs typeface="+mn-lt"/>
              </a:rPr>
              <a:t>.</a:t>
            </a:r>
            <a:endParaRPr lang="en-US">
              <a:latin typeface="Aptos Display"/>
            </a:endParaRPr>
          </a:p>
          <a:p>
            <a:endParaRPr lang="en-US">
              <a:latin typeface="Aptos Display"/>
            </a:endParaRPr>
          </a:p>
        </p:txBody>
      </p:sp>
      <p:pic>
        <p:nvPicPr>
          <p:cNvPr id="4" name="Picture 3" descr="OWASP Juice Shop">
            <a:extLst>
              <a:ext uri="{FF2B5EF4-FFF2-40B4-BE49-F238E27FC236}">
                <a16:creationId xmlns:a16="http://schemas.microsoft.com/office/drawing/2014/main" id="{E611DBD8-4B39-D4ED-1F47-D891EAD09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418" y="1118120"/>
            <a:ext cx="4356461" cy="523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926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21D2BA-461E-5ACA-1169-8230F13D3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729977"/>
          </a:xfrm>
        </p:spPr>
        <p:txBody>
          <a:bodyPr>
            <a:normAutofit fontScale="90000"/>
          </a:bodyPr>
          <a:lstStyle/>
          <a:p>
            <a:r>
              <a:rPr lang="en-US" b="0">
                <a:ea typeface="+mj-lt"/>
                <a:cs typeface="+mj-lt"/>
              </a:rPr>
              <a:t>Bibliografia </a:t>
            </a:r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7C20D-422A-E9CB-8892-4B4278D4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10507"/>
            <a:ext cx="6263640" cy="46354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latin typeface="Aptos Display"/>
                <a:ea typeface="+mn-lt"/>
                <a:cs typeface="+mn-lt"/>
              </a:rPr>
              <a:t>PortSwigger</a:t>
            </a:r>
            <a:r>
              <a:rPr lang="en-US">
                <a:latin typeface="Aptos Display"/>
                <a:ea typeface="+mn-lt"/>
                <a:cs typeface="+mn-lt"/>
              </a:rPr>
              <a:t> Web Security Academy (XSS): </a:t>
            </a:r>
            <a:r>
              <a:rPr lang="en-US">
                <a:latin typeface="Aptos Display"/>
                <a:ea typeface="+mn-lt"/>
                <a:cs typeface="+mn-lt"/>
                <a:hlinkClick r:id="rId2"/>
              </a:rPr>
              <a:t>https://portswigger.net/web-security/cross-site-scripting</a:t>
            </a:r>
            <a:endParaRPr lang="en-US">
              <a:latin typeface="Aptos Display"/>
            </a:endParaRPr>
          </a:p>
          <a:p>
            <a:r>
              <a:rPr lang="en-US">
                <a:latin typeface="Aptos Display"/>
                <a:ea typeface="+mn-lt"/>
                <a:cs typeface="+mn-lt"/>
              </a:rPr>
              <a:t>MDN – XSS: </a:t>
            </a:r>
            <a:r>
              <a:rPr lang="en-US">
                <a:latin typeface="Aptos Display"/>
                <a:ea typeface="+mn-lt"/>
                <a:cs typeface="+mn-lt"/>
                <a:hlinkClick r:id="rId3"/>
              </a:rPr>
              <a:t>https://developer.mozilla.org/en-US/docs/Glossary/Cross-site_scripting</a:t>
            </a:r>
            <a:endParaRPr lang="en-US">
              <a:latin typeface="Aptos Display"/>
            </a:endParaRPr>
          </a:p>
          <a:p>
            <a:r>
              <a:rPr lang="en-US">
                <a:latin typeface="Aptos Display"/>
                <a:ea typeface="+mn-lt"/>
                <a:cs typeface="+mn-lt"/>
              </a:rPr>
              <a:t>Google CSP (Content Security Policy): </a:t>
            </a:r>
            <a:r>
              <a:rPr lang="en-US">
                <a:latin typeface="Aptos Display"/>
                <a:ea typeface="+mn-lt"/>
                <a:cs typeface="+mn-lt"/>
                <a:hlinkClick r:id="rId4"/>
              </a:rPr>
              <a:t>https://csp.withgoogle.com/docs/</a:t>
            </a:r>
            <a:endParaRPr lang="en-US">
              <a:latin typeface="Aptos Display"/>
            </a:endParaRPr>
          </a:p>
          <a:p>
            <a:r>
              <a:rPr lang="en-US">
                <a:latin typeface="Aptos Display"/>
                <a:ea typeface="+mn-lt"/>
                <a:cs typeface="+mn-lt"/>
              </a:rPr>
              <a:t>OWASP XSS Prevention Cheat Sheet: </a:t>
            </a:r>
            <a:r>
              <a:rPr lang="en-US">
                <a:latin typeface="Aptos Display"/>
                <a:ea typeface="+mn-lt"/>
                <a:cs typeface="+mn-lt"/>
                <a:hlinkClick r:id="rId5"/>
              </a:rPr>
              <a:t>https://owasp.org/www-community/xss-prevention</a:t>
            </a:r>
            <a:endParaRPr lang="en-US">
              <a:latin typeface="Aptos Display"/>
            </a:endParaRPr>
          </a:p>
          <a:p>
            <a:r>
              <a:rPr lang="en-US">
                <a:latin typeface="Aptos Display"/>
                <a:ea typeface="+mn-lt"/>
                <a:cs typeface="+mn-lt"/>
              </a:rPr>
              <a:t>OWASP Juice Shop: </a:t>
            </a:r>
            <a:r>
              <a:rPr lang="en-US">
                <a:latin typeface="Aptos Display"/>
                <a:ea typeface="+mn-lt"/>
                <a:cs typeface="+mn-lt"/>
                <a:hlinkClick r:id="rId6"/>
              </a:rPr>
              <a:t>https://owasp.org/www-project-juice-shop/</a:t>
            </a:r>
            <a:endParaRPr lang="en-US">
              <a:latin typeface="Aptos Display"/>
            </a:endParaRPr>
          </a:p>
          <a:p>
            <a:r>
              <a:rPr lang="en-US" err="1">
                <a:latin typeface="Aptos Display"/>
              </a:rPr>
              <a:t>Wallarm</a:t>
            </a:r>
            <a:r>
              <a:rPr lang="en-US">
                <a:latin typeface="Aptos Display"/>
              </a:rPr>
              <a:t>: </a:t>
            </a:r>
            <a:r>
              <a:rPr lang="en-US">
                <a:latin typeface="Aptos Display"/>
                <a:ea typeface="+mn-lt"/>
                <a:cs typeface="+mn-lt"/>
                <a:hlinkClick r:id="rId7"/>
              </a:rPr>
              <a:t>https://www.wallarm.com/</a:t>
            </a:r>
            <a:endParaRPr lang="en-US">
              <a:latin typeface="Aptos Display"/>
            </a:endParaRPr>
          </a:p>
          <a:p>
            <a:endParaRPr lang="en-US">
              <a:latin typeface="Aptos Display"/>
            </a:endParaRPr>
          </a:p>
          <a:p>
            <a:endParaRPr lang="en-US">
              <a:latin typeface="Aptos Display"/>
            </a:endParaRPr>
          </a:p>
        </p:txBody>
      </p:sp>
      <p:pic>
        <p:nvPicPr>
          <p:cNvPr id="4" name="Picture 3" descr="Computer Hacking: Online Vandalism, Theft, or a Combination of the Two?">
            <a:extLst>
              <a:ext uri="{FF2B5EF4-FFF2-40B4-BE49-F238E27FC236}">
                <a16:creationId xmlns:a16="http://schemas.microsoft.com/office/drawing/2014/main" id="{ADC39F4D-DFBF-AEC0-E9D1-109631B2CF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6492" y="976160"/>
            <a:ext cx="4364590" cy="29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224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D66298-FB4B-173E-BE74-D8F2C1D19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3465681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>
                <a:solidFill>
                  <a:schemeClr val="tx2"/>
                </a:solidFill>
              </a:rPr>
              <a:t>Dziękujemy za uwagę!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Wind Chime">
            <a:extLst>
              <a:ext uri="{FF2B5EF4-FFF2-40B4-BE49-F238E27FC236}">
                <a16:creationId xmlns:a16="http://schemas.microsoft.com/office/drawing/2014/main" id="{493F3642-F23B-9684-2E6B-F7BD99A4C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30496" y="657369"/>
            <a:ext cx="5642166" cy="564216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8254721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742</Words>
  <Application>Microsoft Office PowerPoint</Application>
  <PresentationFormat>Panoramiczny</PresentationFormat>
  <Paragraphs>79</Paragraphs>
  <Slides>13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Bierstadt</vt:lpstr>
      <vt:lpstr>Calibri</vt:lpstr>
      <vt:lpstr>GestaltVTI</vt:lpstr>
      <vt:lpstr>XSS Cross-site scripting</vt:lpstr>
      <vt:lpstr>Czym jest XSS?</vt:lpstr>
      <vt:lpstr>Rodzaje XSS</vt:lpstr>
      <vt:lpstr>Reflected XSS</vt:lpstr>
      <vt:lpstr>Stored XSS</vt:lpstr>
      <vt:lpstr>DOM-based XSS</vt:lpstr>
      <vt:lpstr>Skutki ataku XSS</vt:lpstr>
      <vt:lpstr>Jak się bronić?</vt:lpstr>
      <vt:lpstr>Realne incydenty XSS z historii </vt:lpstr>
      <vt:lpstr>Podsumowanie: Najważniejsze lekcje o XSS</vt:lpstr>
      <vt:lpstr>Wprowadzenie do OWASP Juice Shop</vt:lpstr>
      <vt:lpstr>Bibliografia </vt:lpstr>
      <vt:lpstr>Dziękujemy za uwagę!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Kuba</dc:creator>
  <cp:lastModifiedBy>Jakub Żak</cp:lastModifiedBy>
  <cp:revision>2</cp:revision>
  <dcterms:created xsi:type="dcterms:W3CDTF">2025-11-30T19:08:37Z</dcterms:created>
  <dcterms:modified xsi:type="dcterms:W3CDTF">2025-12-02T17:15:37Z</dcterms:modified>
</cp:coreProperties>
</file>